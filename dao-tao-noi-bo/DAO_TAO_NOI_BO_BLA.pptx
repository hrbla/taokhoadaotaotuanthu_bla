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Freeform 1"/>
          <p:cNvSpPr/>
          <p:nvPr/>
        </p:nvSpPr>
        <p:spPr>
          <a:xfrm>
            <a:off x="7955279" y="0"/>
            <a:ext cx="3840481" cy="6858000"/>
          </a:xfrm>
          <a:custGeom>
            <a:avLst/>
            <a:gdLst/>
            <a:ahLst/>
            <a:cxnLst/>
            <a:rect l="l" t="t" r="r" b="b"/>
            <a:pathLst>
              <a:path w="3840481" h="6858000">
                <a:moveTo>
                  <a:pt x="548641" y="0"/>
                </a:moveTo>
                <a:lnTo>
                  <a:pt x="3840481" y="0"/>
                </a:lnTo>
                <a:lnTo>
                  <a:pt x="1645921" y="6858000"/>
                </a:lnTo>
                <a:lnTo>
                  <a:pt x="0" y="6858000"/>
                </a:lnTo>
                <a:close/>
              </a:path>
            </a:pathLst>
          </a:cu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10058400" y="2807208"/>
            <a:ext cx="2133295" cy="4050792"/>
          </a:xfrm>
          <a:custGeom>
            <a:avLst/>
            <a:gdLst/>
            <a:ahLst/>
            <a:cxnLst/>
            <a:rect l="l" t="t" r="r" b="b"/>
            <a:pathLst>
              <a:path w="2133295" h="4050792">
                <a:moveTo>
                  <a:pt x="822960" y="0"/>
                </a:moveTo>
                <a:lnTo>
                  <a:pt x="2133295" y="0"/>
                </a:lnTo>
                <a:lnTo>
                  <a:pt x="2133295" y="4050792"/>
                </a:lnTo>
                <a:lnTo>
                  <a:pt x="0" y="4050792"/>
                </a:lnTo>
                <a:close/>
              </a:path>
            </a:pathLst>
          </a:cu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5852160" y="2807208"/>
            <a:ext cx="3383280" cy="4050792"/>
          </a:xfrm>
          <a:custGeom>
            <a:avLst/>
            <a:gdLst/>
            <a:ahLst/>
            <a:cxnLst/>
            <a:rect l="l" t="t" r="r" b="b"/>
            <a:pathLst>
              <a:path w="3383280" h="4050792">
                <a:moveTo>
                  <a:pt x="1097280" y="0"/>
                </a:moveTo>
                <a:lnTo>
                  <a:pt x="3383280" y="0"/>
                </a:lnTo>
                <a:lnTo>
                  <a:pt x="2286000" y="4050792"/>
                </a:lnTo>
                <a:lnTo>
                  <a:pt x="0" y="4050792"/>
                </a:lnTo>
                <a:close/>
              </a:path>
            </a:pathLst>
          </a:cu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6" name="Rectangle 5"/>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7" name="Rectangle 6"/>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8" name="TextBox 7"/>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9" name="TextBox 8"/>
          <p:cNvSpPr txBox="1"/>
          <p:nvPr/>
        </p:nvSpPr>
        <p:spPr>
          <a:xfrm>
            <a:off x="457200" y="1554480"/>
            <a:ext cx="6858000" cy="1737360"/>
          </a:xfrm>
          <a:prstGeom prst="rect">
            <a:avLst/>
          </a:prstGeom>
          <a:noFill/>
        </p:spPr>
        <p:txBody>
          <a:bodyPr wrap="square" anchor="t" lIns="45720" rIns="45720" tIns="27432" bIns="27432">
            <a:spAutoFit/>
          </a:bodyPr>
          <a:lstStyle/>
          <a:p>
            <a:pPr algn="l">
              <a:spcAft>
                <a:spcPts val="600"/>
              </a:spcAft>
            </a:pPr>
            <a:r>
              <a:rPr sz="4800" b="1">
                <a:solidFill>
                  <a:srgbClr val="1D0F1E"/>
                </a:solidFill>
                <a:latin typeface="Arial"/>
              </a:rPr>
              <a:t>ĐÀO TẠO NỘI BỘ</a:t>
            </a:r>
          </a:p>
        </p:txBody>
      </p:sp>
      <p:sp>
        <p:nvSpPr>
          <p:cNvPr id="10" name="Rectangle 9"/>
          <p:cNvSpPr/>
          <p:nvPr/>
        </p:nvSpPr>
        <p:spPr>
          <a:xfrm>
            <a:off x="502920" y="31546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3383280"/>
            <a:ext cx="6217920" cy="1463040"/>
          </a:xfrm>
          <a:prstGeom prst="rect">
            <a:avLst/>
          </a:prstGeom>
          <a:noFill/>
        </p:spPr>
        <p:txBody>
          <a:bodyPr wrap="square" anchor="t" lIns="45720" rIns="45720" tIns="27432" bIns="27432">
            <a:spAutoFit/>
          </a:bodyPr>
          <a:lstStyle/>
          <a:p>
            <a:pPr algn="l">
              <a:spcAft>
                <a:spcPts val="800"/>
              </a:spcAft>
            </a:pPr>
            <a:r>
              <a:rPr sz="1800" b="1">
                <a:solidFill>
                  <a:srgbClr val="1D0F1E"/>
                </a:solidFill>
                <a:latin typeface="Arial"/>
              </a:rPr>
              <a:t>Bảo mật thông tin  •  Nội quy lao động &amp; kỷ luật</a:t>
            </a:r>
          </a:p>
          <a:p>
            <a:pPr algn="l">
              <a:spcAft>
                <a:spcPts val="800"/>
              </a:spcAft>
            </a:pPr>
            <a:r>
              <a:rPr sz="1800" b="1">
                <a:solidFill>
                  <a:srgbClr val="1D0F1E"/>
                </a:solidFill>
                <a:latin typeface="Arial"/>
              </a:rPr>
              <a:t>Quy tắc ứng xử &amp; đạo đức nghề nghiệp  •  Hoạt động đối ngoại</a:t>
            </a:r>
          </a:p>
        </p:txBody>
      </p:sp>
      <p:sp>
        <p:nvSpPr>
          <p:cNvPr id="12" name="TextBox 11"/>
          <p:cNvSpPr txBox="1"/>
          <p:nvPr/>
        </p:nvSpPr>
        <p:spPr>
          <a:xfrm>
            <a:off x="457200" y="5120640"/>
            <a:ext cx="5943600" cy="822960"/>
          </a:xfrm>
          <a:prstGeom prst="rect">
            <a:avLst/>
          </a:prstGeom>
          <a:noFill/>
        </p:spPr>
        <p:txBody>
          <a:bodyPr wrap="square" anchor="t" lIns="45720" rIns="45720" tIns="27432" bIns="27432">
            <a:spAutoFit/>
          </a:bodyPr>
          <a:lstStyle/>
          <a:p>
            <a:pPr algn="l">
              <a:spcAft>
                <a:spcPts val="400"/>
              </a:spcAft>
            </a:pPr>
            <a:r>
              <a:rPr sz="1400" b="0">
                <a:solidFill>
                  <a:srgbClr val="5A5A5A"/>
                </a:solidFill>
                <a:latin typeface="Arial"/>
              </a:rPr>
              <a:t>Khối Hành chính Nhân sự – Tập đoàn Giáo dục BLA</a:t>
            </a:r>
          </a:p>
          <a:p>
            <a:pPr algn="l">
              <a:spcAft>
                <a:spcPts val="400"/>
              </a:spcAft>
            </a:pPr>
            <a:r>
              <a:rPr sz="1400" b="0">
                <a:solidFill>
                  <a:srgbClr val="5A5A5A"/>
                </a:solidFill>
                <a:latin typeface="Arial"/>
              </a:rPr>
              <a:t>www.bla.vn  |  2026</a:t>
            </a:r>
          </a:p>
        </p:txBody>
      </p:sp>
      <p:sp>
        <p:nvSpPr>
          <p:cNvPr id="13" name="TextBox 12"/>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14" name="TextBox 13"/>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NỘI DUNG ĐÀO TẠO</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2</a:t>
            </a:r>
          </a:p>
        </p:txBody>
      </p:sp>
      <p:sp>
        <p:nvSpPr>
          <p:cNvPr id="10" name="Rectangle 9"/>
          <p:cNvSpPr/>
          <p:nvPr/>
        </p:nvSpPr>
        <p:spPr>
          <a:xfrm>
            <a:off x="457200" y="1920240"/>
            <a:ext cx="11247120" cy="868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920240"/>
            <a:ext cx="109728" cy="868680"/>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1920240"/>
            <a:ext cx="1097280" cy="868680"/>
          </a:xfrm>
          <a:prstGeom prst="rect">
            <a:avLst/>
          </a:prstGeom>
          <a:noFill/>
        </p:spPr>
        <p:txBody>
          <a:bodyPr wrap="square" anchor="ctr" lIns="45720" rIns="45720" tIns="27432" bIns="27432">
            <a:spAutoFit/>
          </a:bodyPr>
          <a:lstStyle/>
          <a:p>
            <a:pPr algn="l">
              <a:spcAft>
                <a:spcPts val="600"/>
              </a:spcAft>
            </a:pPr>
            <a:r>
              <a:rPr sz="2800" b="1">
                <a:solidFill>
                  <a:srgbClr val="ED1C24"/>
                </a:solidFill>
                <a:latin typeface="Arial"/>
              </a:rPr>
              <a:t>01</a:t>
            </a:r>
          </a:p>
        </p:txBody>
      </p:sp>
      <p:sp>
        <p:nvSpPr>
          <p:cNvPr id="13" name="TextBox 12"/>
          <p:cNvSpPr txBox="1"/>
          <p:nvPr/>
        </p:nvSpPr>
        <p:spPr>
          <a:xfrm>
            <a:off x="1828800" y="2011680"/>
            <a:ext cx="9601200" cy="411480"/>
          </a:xfrm>
          <a:prstGeom prst="rect">
            <a:avLst/>
          </a:prstGeom>
          <a:noFill/>
        </p:spPr>
        <p:txBody>
          <a:bodyPr wrap="square" anchor="t" lIns="45720" rIns="45720" tIns="27432" bIns="27432">
            <a:spAutoFit/>
          </a:bodyPr>
          <a:lstStyle/>
          <a:p>
            <a:pPr algn="l">
              <a:spcAft>
                <a:spcPts val="600"/>
              </a:spcAft>
            </a:pPr>
            <a:r>
              <a:rPr sz="1800" b="1">
                <a:solidFill>
                  <a:srgbClr val="1D0F1E"/>
                </a:solidFill>
                <a:latin typeface="Arial"/>
              </a:rPr>
              <a:t>Bảo mật thông tin</a:t>
            </a:r>
          </a:p>
        </p:txBody>
      </p:sp>
      <p:sp>
        <p:nvSpPr>
          <p:cNvPr id="14" name="TextBox 13"/>
          <p:cNvSpPr txBox="1"/>
          <p:nvPr/>
        </p:nvSpPr>
        <p:spPr>
          <a:xfrm>
            <a:off x="1828800" y="2377440"/>
            <a:ext cx="9601200" cy="365760"/>
          </a:xfrm>
          <a:prstGeom prst="rect">
            <a:avLst/>
          </a:prstGeom>
          <a:noFill/>
        </p:spPr>
        <p:txBody>
          <a:bodyPr wrap="square" anchor="t" lIns="45720" rIns="45720" tIns="27432" bIns="27432">
            <a:spAutoFit/>
          </a:bodyPr>
          <a:lstStyle/>
          <a:p>
            <a:pPr algn="l">
              <a:spcAft>
                <a:spcPts val="600"/>
              </a:spcAft>
            </a:pPr>
            <a:r>
              <a:rPr sz="1300" b="0">
                <a:solidFill>
                  <a:srgbClr val="5A5A5A"/>
                </a:solidFill>
                <a:latin typeface="Arial"/>
              </a:rPr>
              <a:t>Phạm vi thông tin bảo mật, cam kết và sở hữu trí tuệ</a:t>
            </a:r>
          </a:p>
        </p:txBody>
      </p:sp>
      <p:sp>
        <p:nvSpPr>
          <p:cNvPr id="15" name="Rectangle 14"/>
          <p:cNvSpPr/>
          <p:nvPr/>
        </p:nvSpPr>
        <p:spPr>
          <a:xfrm>
            <a:off x="457200" y="2944368"/>
            <a:ext cx="11247120" cy="868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2944368"/>
            <a:ext cx="109728" cy="868680"/>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2944368"/>
            <a:ext cx="1097280" cy="868680"/>
          </a:xfrm>
          <a:prstGeom prst="rect">
            <a:avLst/>
          </a:prstGeom>
          <a:noFill/>
        </p:spPr>
        <p:txBody>
          <a:bodyPr wrap="square" anchor="ctr" lIns="45720" rIns="45720" tIns="27432" bIns="27432">
            <a:spAutoFit/>
          </a:bodyPr>
          <a:lstStyle/>
          <a:p>
            <a:pPr algn="l">
              <a:spcAft>
                <a:spcPts val="600"/>
              </a:spcAft>
            </a:pPr>
            <a:r>
              <a:rPr sz="2800" b="1">
                <a:solidFill>
                  <a:srgbClr val="ED1C24"/>
                </a:solidFill>
                <a:latin typeface="Arial"/>
              </a:rPr>
              <a:t>02</a:t>
            </a:r>
          </a:p>
        </p:txBody>
      </p:sp>
      <p:sp>
        <p:nvSpPr>
          <p:cNvPr id="18" name="TextBox 17"/>
          <p:cNvSpPr txBox="1"/>
          <p:nvPr/>
        </p:nvSpPr>
        <p:spPr>
          <a:xfrm>
            <a:off x="1828800" y="3035808"/>
            <a:ext cx="9601200" cy="411480"/>
          </a:xfrm>
          <a:prstGeom prst="rect">
            <a:avLst/>
          </a:prstGeom>
          <a:noFill/>
        </p:spPr>
        <p:txBody>
          <a:bodyPr wrap="square" anchor="t" lIns="45720" rIns="45720" tIns="27432" bIns="27432">
            <a:spAutoFit/>
          </a:bodyPr>
          <a:lstStyle/>
          <a:p>
            <a:pPr algn="l">
              <a:spcAft>
                <a:spcPts val="600"/>
              </a:spcAft>
            </a:pPr>
            <a:r>
              <a:rPr sz="1800" b="1">
                <a:solidFill>
                  <a:srgbClr val="1D0F1E"/>
                </a:solidFill>
                <a:latin typeface="Arial"/>
              </a:rPr>
              <a:t>Nội quy lao động &amp; xử lý kỷ luật</a:t>
            </a:r>
          </a:p>
        </p:txBody>
      </p:sp>
      <p:sp>
        <p:nvSpPr>
          <p:cNvPr id="19" name="TextBox 18"/>
          <p:cNvSpPr txBox="1"/>
          <p:nvPr/>
        </p:nvSpPr>
        <p:spPr>
          <a:xfrm>
            <a:off x="1828800" y="3401568"/>
            <a:ext cx="9601200" cy="365760"/>
          </a:xfrm>
          <a:prstGeom prst="rect">
            <a:avLst/>
          </a:prstGeom>
          <a:noFill/>
        </p:spPr>
        <p:txBody>
          <a:bodyPr wrap="square" anchor="t" lIns="45720" rIns="45720" tIns="27432" bIns="27432">
            <a:spAutoFit/>
          </a:bodyPr>
          <a:lstStyle/>
          <a:p>
            <a:pPr algn="l">
              <a:spcAft>
                <a:spcPts val="600"/>
              </a:spcAft>
            </a:pPr>
            <a:r>
              <a:rPr sz="1300" b="0">
                <a:solidFill>
                  <a:srgbClr val="5A5A5A"/>
                </a:solidFill>
                <a:latin typeface="Arial"/>
              </a:rPr>
              <a:t>Thời giờ làm việc, nghỉ phép, hành vi bị cấm, hình thức kỷ luật</a:t>
            </a:r>
          </a:p>
        </p:txBody>
      </p:sp>
      <p:sp>
        <p:nvSpPr>
          <p:cNvPr id="20" name="Rectangle 19"/>
          <p:cNvSpPr/>
          <p:nvPr/>
        </p:nvSpPr>
        <p:spPr>
          <a:xfrm>
            <a:off x="457200" y="3968496"/>
            <a:ext cx="11247120" cy="868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3968496"/>
            <a:ext cx="109728" cy="868680"/>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20" y="3968496"/>
            <a:ext cx="1097280" cy="868680"/>
          </a:xfrm>
          <a:prstGeom prst="rect">
            <a:avLst/>
          </a:prstGeom>
          <a:noFill/>
        </p:spPr>
        <p:txBody>
          <a:bodyPr wrap="square" anchor="ctr" lIns="45720" rIns="45720" tIns="27432" bIns="27432">
            <a:spAutoFit/>
          </a:bodyPr>
          <a:lstStyle/>
          <a:p>
            <a:pPr algn="l">
              <a:spcAft>
                <a:spcPts val="600"/>
              </a:spcAft>
            </a:pPr>
            <a:r>
              <a:rPr sz="2800" b="1">
                <a:solidFill>
                  <a:srgbClr val="ED1C24"/>
                </a:solidFill>
                <a:latin typeface="Arial"/>
              </a:rPr>
              <a:t>03</a:t>
            </a:r>
          </a:p>
        </p:txBody>
      </p:sp>
      <p:sp>
        <p:nvSpPr>
          <p:cNvPr id="23" name="TextBox 22"/>
          <p:cNvSpPr txBox="1"/>
          <p:nvPr/>
        </p:nvSpPr>
        <p:spPr>
          <a:xfrm>
            <a:off x="1828800" y="4059935"/>
            <a:ext cx="9601200" cy="411480"/>
          </a:xfrm>
          <a:prstGeom prst="rect">
            <a:avLst/>
          </a:prstGeom>
          <a:noFill/>
        </p:spPr>
        <p:txBody>
          <a:bodyPr wrap="square" anchor="t" lIns="45720" rIns="45720" tIns="27432" bIns="27432">
            <a:spAutoFit/>
          </a:bodyPr>
          <a:lstStyle/>
          <a:p>
            <a:pPr algn="l">
              <a:spcAft>
                <a:spcPts val="600"/>
              </a:spcAft>
            </a:pPr>
            <a:r>
              <a:rPr sz="1800" b="1">
                <a:solidFill>
                  <a:srgbClr val="1D0F1E"/>
                </a:solidFill>
                <a:latin typeface="Arial"/>
              </a:rPr>
              <a:t>Quy tắc ứng xử &amp; đạo đức nghề nghiệp</a:t>
            </a:r>
          </a:p>
        </p:txBody>
      </p:sp>
      <p:sp>
        <p:nvSpPr>
          <p:cNvPr id="24" name="TextBox 23"/>
          <p:cNvSpPr txBox="1"/>
          <p:nvPr/>
        </p:nvSpPr>
        <p:spPr>
          <a:xfrm>
            <a:off x="1828800" y="4425696"/>
            <a:ext cx="9601200" cy="365760"/>
          </a:xfrm>
          <a:prstGeom prst="rect">
            <a:avLst/>
          </a:prstGeom>
          <a:noFill/>
        </p:spPr>
        <p:txBody>
          <a:bodyPr wrap="square" anchor="t" lIns="45720" rIns="45720" tIns="27432" bIns="27432">
            <a:spAutoFit/>
          </a:bodyPr>
          <a:lstStyle/>
          <a:p>
            <a:pPr algn="l">
              <a:spcAft>
                <a:spcPts val="600"/>
              </a:spcAft>
            </a:pPr>
            <a:r>
              <a:rPr sz="1300" b="0">
                <a:solidFill>
                  <a:srgbClr val="5A5A5A"/>
                </a:solidFill>
                <a:latin typeface="Arial"/>
              </a:rPr>
              <a:t>Nguyên tắc, chuẩn mực theo từng đối tượng, phản ánh vi phạm</a:t>
            </a:r>
          </a:p>
        </p:txBody>
      </p:sp>
      <p:sp>
        <p:nvSpPr>
          <p:cNvPr id="25" name="Rectangle 24"/>
          <p:cNvSpPr/>
          <p:nvPr/>
        </p:nvSpPr>
        <p:spPr>
          <a:xfrm>
            <a:off x="457200" y="4992624"/>
            <a:ext cx="11247120" cy="868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992624"/>
            <a:ext cx="109728" cy="868680"/>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1520" y="4992624"/>
            <a:ext cx="1097280" cy="868680"/>
          </a:xfrm>
          <a:prstGeom prst="rect">
            <a:avLst/>
          </a:prstGeom>
          <a:noFill/>
        </p:spPr>
        <p:txBody>
          <a:bodyPr wrap="square" anchor="ctr" lIns="45720" rIns="45720" tIns="27432" bIns="27432">
            <a:spAutoFit/>
          </a:bodyPr>
          <a:lstStyle/>
          <a:p>
            <a:pPr algn="l">
              <a:spcAft>
                <a:spcPts val="600"/>
              </a:spcAft>
            </a:pPr>
            <a:r>
              <a:rPr sz="2800" b="1">
                <a:solidFill>
                  <a:srgbClr val="ED1C24"/>
                </a:solidFill>
                <a:latin typeface="Arial"/>
              </a:rPr>
              <a:t>04</a:t>
            </a:r>
          </a:p>
        </p:txBody>
      </p:sp>
      <p:sp>
        <p:nvSpPr>
          <p:cNvPr id="28" name="TextBox 27"/>
          <p:cNvSpPr txBox="1"/>
          <p:nvPr/>
        </p:nvSpPr>
        <p:spPr>
          <a:xfrm>
            <a:off x="1828800" y="5084064"/>
            <a:ext cx="9601200" cy="411480"/>
          </a:xfrm>
          <a:prstGeom prst="rect">
            <a:avLst/>
          </a:prstGeom>
          <a:noFill/>
        </p:spPr>
        <p:txBody>
          <a:bodyPr wrap="square" anchor="t" lIns="45720" rIns="45720" tIns="27432" bIns="27432">
            <a:spAutoFit/>
          </a:bodyPr>
          <a:lstStyle/>
          <a:p>
            <a:pPr algn="l">
              <a:spcAft>
                <a:spcPts val="600"/>
              </a:spcAft>
            </a:pPr>
            <a:r>
              <a:rPr sz="1800" b="1">
                <a:solidFill>
                  <a:srgbClr val="1D0F1E"/>
                </a:solidFill>
                <a:latin typeface="Arial"/>
              </a:rPr>
              <a:t>Quy định hoạt động đối ngoại</a:t>
            </a:r>
          </a:p>
        </p:txBody>
      </p:sp>
      <p:sp>
        <p:nvSpPr>
          <p:cNvPr id="29" name="TextBox 28"/>
          <p:cNvSpPr txBox="1"/>
          <p:nvPr/>
        </p:nvSpPr>
        <p:spPr>
          <a:xfrm>
            <a:off x="1828800" y="5449824"/>
            <a:ext cx="9601200" cy="365760"/>
          </a:xfrm>
          <a:prstGeom prst="rect">
            <a:avLst/>
          </a:prstGeom>
          <a:noFill/>
        </p:spPr>
        <p:txBody>
          <a:bodyPr wrap="square" anchor="t" lIns="45720" rIns="45720" tIns="27432" bIns="27432">
            <a:spAutoFit/>
          </a:bodyPr>
          <a:lstStyle/>
          <a:p>
            <a:pPr algn="l">
              <a:spcAft>
                <a:spcPts val="600"/>
              </a:spcAft>
            </a:pPr>
            <a:r>
              <a:rPr sz="1300" b="0">
                <a:solidFill>
                  <a:srgbClr val="5A5A5A"/>
                </a:solidFill>
                <a:latin typeface="Arial"/>
              </a:rPr>
              <a:t>Đối tượng, email, cam kết, ký kết và phát ngôn nhân danh BLA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7955279" y="0"/>
            <a:ext cx="3840481" cy="6858000"/>
          </a:xfrm>
          <a:custGeom>
            <a:avLst/>
            <a:gdLst/>
            <a:ahLst/>
            <a:cxnLst/>
            <a:rect l="l" t="t" r="r" b="b"/>
            <a:pathLst>
              <a:path w="3840481" h="6858000">
                <a:moveTo>
                  <a:pt x="548641" y="0"/>
                </a:moveTo>
                <a:lnTo>
                  <a:pt x="3840481" y="0"/>
                </a:lnTo>
                <a:lnTo>
                  <a:pt x="1645921" y="6858000"/>
                </a:lnTo>
                <a:lnTo>
                  <a:pt x="0" y="6858000"/>
                </a:lnTo>
                <a:close/>
              </a:path>
            </a:pathLst>
          </a:cu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058400" y="2807208"/>
            <a:ext cx="2133295" cy="4050792"/>
          </a:xfrm>
          <a:custGeom>
            <a:avLst/>
            <a:gdLst/>
            <a:ahLst/>
            <a:cxnLst/>
            <a:rect l="l" t="t" r="r" b="b"/>
            <a:pathLst>
              <a:path w="2133295" h="4050792">
                <a:moveTo>
                  <a:pt x="822960" y="0"/>
                </a:moveTo>
                <a:lnTo>
                  <a:pt x="2133295" y="0"/>
                </a:lnTo>
                <a:lnTo>
                  <a:pt x="2133295" y="4050792"/>
                </a:lnTo>
                <a:lnTo>
                  <a:pt x="0" y="4050792"/>
                </a:lnTo>
                <a:close/>
              </a:path>
            </a:pathLst>
          </a:cu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6" name="Rectangle 5"/>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7" name="Rectangle 6"/>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8" name="TextBox 7"/>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FFFFFF"/>
                </a:solidFill>
                <a:latin typeface="Arial"/>
              </a:rPr>
              <a:t>Education</a:t>
            </a:r>
          </a:p>
          <a:p>
            <a:pPr algn="l">
              <a:spcAft>
                <a:spcPts val="0"/>
              </a:spcAft>
            </a:pPr>
            <a:r>
              <a:rPr sz="1000" b="1">
                <a:solidFill>
                  <a:srgbClr val="FFFFFF"/>
                </a:solidFill>
                <a:latin typeface="Arial"/>
              </a:rPr>
              <a:t>Group</a:t>
            </a:r>
          </a:p>
        </p:txBody>
      </p:sp>
      <p:sp>
        <p:nvSpPr>
          <p:cNvPr id="9" name="TextBox 8"/>
          <p:cNvSpPr txBox="1"/>
          <p:nvPr/>
        </p:nvSpPr>
        <p:spPr>
          <a:xfrm>
            <a:off x="731520" y="2103120"/>
            <a:ext cx="5486400" cy="1280160"/>
          </a:xfrm>
          <a:prstGeom prst="rect">
            <a:avLst/>
          </a:prstGeom>
          <a:noFill/>
        </p:spPr>
        <p:txBody>
          <a:bodyPr wrap="square" anchor="t" lIns="45720" rIns="45720" tIns="27432" bIns="27432">
            <a:spAutoFit/>
          </a:bodyPr>
          <a:lstStyle/>
          <a:p>
            <a:pPr algn="l">
              <a:spcAft>
                <a:spcPts val="600"/>
              </a:spcAft>
            </a:pPr>
            <a:r>
              <a:rPr sz="7200" b="1">
                <a:solidFill>
                  <a:srgbClr val="FDC01B"/>
                </a:solidFill>
                <a:latin typeface="Arial"/>
              </a:rPr>
              <a:t>01</a:t>
            </a:r>
          </a:p>
        </p:txBody>
      </p:sp>
      <p:sp>
        <p:nvSpPr>
          <p:cNvPr id="10" name="TextBox 9"/>
          <p:cNvSpPr txBox="1"/>
          <p:nvPr/>
        </p:nvSpPr>
        <p:spPr>
          <a:xfrm>
            <a:off x="731520" y="3383280"/>
            <a:ext cx="7315200" cy="1463040"/>
          </a:xfrm>
          <a:prstGeom prst="rect">
            <a:avLst/>
          </a:prstGeom>
          <a:noFill/>
        </p:spPr>
        <p:txBody>
          <a:bodyPr wrap="square" anchor="t" lIns="45720" rIns="45720" tIns="27432" bIns="27432">
            <a:spAutoFit/>
          </a:bodyPr>
          <a:lstStyle/>
          <a:p>
            <a:pPr algn="l">
              <a:spcAft>
                <a:spcPts val="600"/>
              </a:spcAft>
            </a:pPr>
            <a:r>
              <a:rPr sz="3600" b="1">
                <a:solidFill>
                  <a:srgbClr val="FFFFFF"/>
                </a:solidFill>
                <a:latin typeface="Arial"/>
              </a:rPr>
              <a:t>BẢO MẬT THÔNG TIN</a:t>
            </a:r>
          </a:p>
        </p:txBody>
      </p:sp>
      <p:sp>
        <p:nvSpPr>
          <p:cNvPr id="11" name="Rectangle 10"/>
          <p:cNvSpPr/>
          <p:nvPr/>
        </p:nvSpPr>
        <p:spPr>
          <a:xfrm>
            <a:off x="777240" y="484632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029200"/>
            <a:ext cx="7315200" cy="548640"/>
          </a:xfrm>
          <a:prstGeom prst="rect">
            <a:avLst/>
          </a:prstGeom>
          <a:noFill/>
        </p:spPr>
        <p:txBody>
          <a:bodyPr wrap="square" anchor="t" lIns="45720" rIns="45720" tIns="27432" bIns="27432">
            <a:spAutoFit/>
          </a:bodyPr>
          <a:lstStyle/>
          <a:p>
            <a:pPr algn="l">
              <a:spcAft>
                <a:spcPts val="600"/>
              </a:spcAft>
            </a:pPr>
            <a:r>
              <a:rPr sz="1600" b="0">
                <a:solidFill>
                  <a:srgbClr val="FFFFFF"/>
                </a:solidFill>
                <a:latin typeface="Arial"/>
              </a:rPr>
              <a:t>Cam kết bảo mật thông tin và sở hữu trí tuệ</a:t>
            </a:r>
          </a:p>
        </p:txBody>
      </p:sp>
      <p:sp>
        <p:nvSpPr>
          <p:cNvPr id="13" name="TextBox 12"/>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FFFFFF"/>
                </a:solidFill>
                <a:latin typeface="Arial"/>
              </a:rPr>
              <a:t>BLA Education Group  |  Đào tạo nội bộ – Khối HCNS</a:t>
            </a:r>
          </a:p>
        </p:txBody>
      </p:sp>
      <p:sp>
        <p:nvSpPr>
          <p:cNvPr id="14" name="TextBox 13"/>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FFFFFF"/>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THÔNG TIN BẢO MẬT BAO GỒM NHỮNG GÌ?</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4</a:t>
            </a:r>
          </a:p>
        </p:txBody>
      </p:sp>
      <p:sp>
        <p:nvSpPr>
          <p:cNvPr id="10" name="Rectangle 9"/>
          <p:cNvSpPr/>
          <p:nvPr/>
        </p:nvSpPr>
        <p:spPr>
          <a:xfrm>
            <a:off x="457200" y="1828800"/>
            <a:ext cx="5486400" cy="3749039"/>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548640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512064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Thông tin kinh doanh</a:t>
            </a:r>
          </a:p>
        </p:txBody>
      </p:sp>
      <p:sp>
        <p:nvSpPr>
          <p:cNvPr id="13" name="TextBox 12"/>
          <p:cNvSpPr txBox="1"/>
          <p:nvPr/>
        </p:nvSpPr>
        <p:spPr>
          <a:xfrm>
            <a:off x="640080" y="2560320"/>
            <a:ext cx="5120640" cy="2926079"/>
          </a:xfrm>
          <a:prstGeom prst="rect">
            <a:avLst/>
          </a:prstGeom>
          <a:noFill/>
        </p:spPr>
        <p:txBody>
          <a:bodyPr wrap="square" anchor="t" lIns="45720" rIns="45720" tIns="27432" bIns="27432">
            <a:spAutoFit/>
          </a:bodyPr>
          <a:lstStyle/>
          <a:p>
            <a:pPr algn="l">
              <a:spcAft>
                <a:spcPts val="500"/>
              </a:spcAft>
            </a:pPr>
            <a:r>
              <a:rPr sz="1500" b="1">
                <a:solidFill>
                  <a:srgbClr val="ED1C24"/>
                </a:solidFill>
                <a:latin typeface="Arial"/>
              </a:rPr>
              <a:t>▪  </a:t>
            </a:r>
            <a:r>
              <a:rPr sz="1500" b="0">
                <a:solidFill>
                  <a:srgbClr val="1D0F1E"/>
                </a:solidFill>
                <a:latin typeface="Arial"/>
              </a:rPr>
              <a:t>Tài chính, hợp đồng lao động liên quan đến Công ty</a:t>
            </a:r>
          </a:p>
          <a:p>
            <a:pPr algn="l">
              <a:spcAft>
                <a:spcPts val="500"/>
              </a:spcAft>
            </a:pPr>
            <a:r>
              <a:rPr sz="1500" b="1">
                <a:solidFill>
                  <a:srgbClr val="ED1C24"/>
                </a:solidFill>
                <a:latin typeface="Arial"/>
              </a:rPr>
              <a:t>▪  </a:t>
            </a:r>
            <a:r>
              <a:rPr sz="1500" b="0">
                <a:solidFill>
                  <a:srgbClr val="1D0F1E"/>
                </a:solidFill>
                <a:latin typeface="Arial"/>
              </a:rPr>
              <a:t>Kế hoạch phát triển, chiến lược kinh doanh, chính sách</a:t>
            </a:r>
          </a:p>
          <a:p>
            <a:pPr algn="l">
              <a:spcAft>
                <a:spcPts val="500"/>
              </a:spcAft>
            </a:pPr>
            <a:r>
              <a:rPr sz="1500" b="1">
                <a:solidFill>
                  <a:srgbClr val="ED1C24"/>
                </a:solidFill>
                <a:latin typeface="Arial"/>
              </a:rPr>
              <a:t>▪  </a:t>
            </a:r>
            <a:r>
              <a:rPr sz="1500" b="0">
                <a:solidFill>
                  <a:srgbClr val="1D0F1E"/>
                </a:solidFill>
                <a:latin typeface="Arial"/>
              </a:rPr>
              <a:t>Kế hoạch marketing, quảng cáo, đấu thầu, dự án, liên doanh</a:t>
            </a:r>
          </a:p>
          <a:p>
            <a:pPr algn="l">
              <a:spcAft>
                <a:spcPts val="500"/>
              </a:spcAft>
            </a:pPr>
            <a:r>
              <a:rPr sz="1500" b="1">
                <a:solidFill>
                  <a:srgbClr val="ED1C24"/>
                </a:solidFill>
                <a:latin typeface="Arial"/>
              </a:rPr>
              <a:t>▪  </a:t>
            </a:r>
            <a:r>
              <a:rPr sz="1500" b="0">
                <a:solidFill>
                  <a:srgbClr val="1D0F1E"/>
                </a:solidFill>
                <a:latin typeface="Arial"/>
              </a:rPr>
              <a:t>Số liệu nội bộ: lượt truy cập, tỷ lệ chuyển đổi, chi phí khách hàng</a:t>
            </a:r>
          </a:p>
          <a:p>
            <a:pPr algn="l">
              <a:spcAft>
                <a:spcPts val="500"/>
              </a:spcAft>
            </a:pPr>
            <a:r>
              <a:rPr sz="1500" b="1">
                <a:solidFill>
                  <a:srgbClr val="ED1C24"/>
                </a:solidFill>
                <a:latin typeface="Arial"/>
              </a:rPr>
              <a:t>▪  </a:t>
            </a:r>
            <a:r>
              <a:rPr sz="1500" b="0">
                <a:solidFill>
                  <a:srgbClr val="1D0F1E"/>
                </a:solidFill>
                <a:latin typeface="Arial"/>
              </a:rPr>
              <a:t>Chương trình, thiết kế, bí quyết, sáng chế, mã nguồn</a:t>
            </a:r>
          </a:p>
        </p:txBody>
      </p:sp>
      <p:sp>
        <p:nvSpPr>
          <p:cNvPr id="14" name="Rectangle 13"/>
          <p:cNvSpPr/>
          <p:nvPr/>
        </p:nvSpPr>
        <p:spPr>
          <a:xfrm>
            <a:off x="6217920" y="1828800"/>
            <a:ext cx="5486400" cy="3749039"/>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828800"/>
            <a:ext cx="5486400"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2029968"/>
            <a:ext cx="512064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Thông tin nhân sự, khách hàng &amp; đối tác</a:t>
            </a:r>
          </a:p>
        </p:txBody>
      </p:sp>
      <p:sp>
        <p:nvSpPr>
          <p:cNvPr id="17" name="TextBox 16"/>
          <p:cNvSpPr txBox="1"/>
          <p:nvPr/>
        </p:nvSpPr>
        <p:spPr>
          <a:xfrm>
            <a:off x="6400800" y="2560320"/>
            <a:ext cx="5120640" cy="2926079"/>
          </a:xfrm>
          <a:prstGeom prst="rect">
            <a:avLst/>
          </a:prstGeom>
          <a:noFill/>
        </p:spPr>
        <p:txBody>
          <a:bodyPr wrap="square" anchor="t" lIns="45720" rIns="45720" tIns="27432" bIns="27432">
            <a:spAutoFit/>
          </a:bodyPr>
          <a:lstStyle/>
          <a:p>
            <a:pPr algn="l">
              <a:spcAft>
                <a:spcPts val="500"/>
              </a:spcAft>
            </a:pPr>
            <a:r>
              <a:rPr sz="1500" b="1">
                <a:solidFill>
                  <a:srgbClr val="ED1C24"/>
                </a:solidFill>
                <a:latin typeface="Arial"/>
              </a:rPr>
              <a:t>▪  </a:t>
            </a:r>
            <a:r>
              <a:rPr sz="1500" b="0">
                <a:solidFill>
                  <a:srgbClr val="1D0F1E"/>
                </a:solidFill>
                <a:latin typeface="Arial"/>
              </a:rPr>
              <a:t>Khách hàng, nhà cung cấp, đại lý, nội dung hợp đồng</a:t>
            </a:r>
          </a:p>
          <a:p>
            <a:pPr algn="l">
              <a:spcAft>
                <a:spcPts val="500"/>
              </a:spcAft>
            </a:pPr>
            <a:r>
              <a:rPr sz="1500" b="1">
                <a:solidFill>
                  <a:srgbClr val="ED1C24"/>
                </a:solidFill>
                <a:latin typeface="Arial"/>
              </a:rPr>
              <a:t>▪  </a:t>
            </a:r>
            <a:r>
              <a:rPr sz="1500" b="0">
                <a:solidFill>
                  <a:srgbClr val="1D0F1E"/>
                </a:solidFill>
                <a:latin typeface="Arial"/>
              </a:rPr>
              <a:t>Lương, thưởng, đãi ngộ và thông tin chi tiết người lao động</a:t>
            </a:r>
          </a:p>
          <a:p>
            <a:pPr algn="l">
              <a:spcAft>
                <a:spcPts val="500"/>
              </a:spcAft>
            </a:pPr>
            <a:r>
              <a:rPr sz="1500" b="1">
                <a:solidFill>
                  <a:srgbClr val="ED1C24"/>
                </a:solidFill>
                <a:latin typeface="Arial"/>
              </a:rPr>
              <a:t>▪  </a:t>
            </a:r>
            <a:r>
              <a:rPr sz="1500" b="0">
                <a:solidFill>
                  <a:srgbClr val="1D0F1E"/>
                </a:solidFill>
                <a:latin typeface="Arial"/>
              </a:rPr>
              <a:t>Báo cáo, nghiên cứu bảo mật và bí mật thương mại</a:t>
            </a:r>
          </a:p>
          <a:p>
            <a:pPr algn="l">
              <a:spcAft>
                <a:spcPts val="500"/>
              </a:spcAft>
            </a:pPr>
            <a:r>
              <a:rPr sz="1500" b="1">
                <a:solidFill>
                  <a:srgbClr val="ED1C24"/>
                </a:solidFill>
                <a:latin typeface="Arial"/>
              </a:rPr>
              <a:t>▪  </a:t>
            </a:r>
            <a:r>
              <a:rPr sz="1500" b="0">
                <a:solidFill>
                  <a:srgbClr val="1D0F1E"/>
                </a:solidFill>
                <a:latin typeface="Arial"/>
              </a:rPr>
              <a:t>Bí mật kinh doanh, tài sản trí tuệ và các thông tin được Công ty bảo mật</a:t>
            </a:r>
          </a:p>
        </p:txBody>
      </p:sp>
      <p:sp>
        <p:nvSpPr>
          <p:cNvPr id="18" name="Rectangle 17"/>
          <p:cNvSpPr/>
          <p:nvPr/>
        </p:nvSpPr>
        <p:spPr>
          <a:xfrm>
            <a:off x="457200" y="5760720"/>
            <a:ext cx="11247120" cy="502920"/>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5760720"/>
            <a:ext cx="10789920" cy="502920"/>
          </a:xfrm>
          <a:prstGeom prst="rect">
            <a:avLst/>
          </a:prstGeom>
          <a:noFill/>
        </p:spPr>
        <p:txBody>
          <a:bodyPr wrap="square" anchor="ctr" lIns="45720" rIns="45720" tIns="27432" bIns="27432">
            <a:spAutoFit/>
          </a:bodyPr>
          <a:lstStyle/>
          <a:p>
            <a:pPr algn="l">
              <a:spcAft>
                <a:spcPts val="600"/>
              </a:spcAft>
            </a:pPr>
            <a:r>
              <a:rPr sz="1300" b="1">
                <a:solidFill>
                  <a:srgbClr val="1D0F1E"/>
                </a:solidFill>
                <a:latin typeface="Arial"/>
              </a:rPr>
              <a:t>Công ty có thể bổ sung danh mục bảo mật bất kỳ lúc nào và sẽ thông báo cho người lao động.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CAM KẾT CỦA NGƯỜI LAO ĐỘNG</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5</a:t>
            </a:r>
          </a:p>
        </p:txBody>
      </p:sp>
      <p:sp>
        <p:nvSpPr>
          <p:cNvPr id="10" name="Rectangle 9"/>
          <p:cNvSpPr/>
          <p:nvPr/>
        </p:nvSpPr>
        <p:spPr>
          <a:xfrm>
            <a:off x="457200" y="1828800"/>
            <a:ext cx="3611880" cy="38404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361188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324612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Trong &amp; sau khi làm việc</a:t>
            </a:r>
          </a:p>
        </p:txBody>
      </p:sp>
      <p:sp>
        <p:nvSpPr>
          <p:cNvPr id="13" name="TextBox 12"/>
          <p:cNvSpPr txBox="1"/>
          <p:nvPr/>
        </p:nvSpPr>
        <p:spPr>
          <a:xfrm>
            <a:off x="640080" y="2560320"/>
            <a:ext cx="3246120" cy="3017520"/>
          </a:xfrm>
          <a:prstGeom prst="rect">
            <a:avLst/>
          </a:prstGeom>
          <a:noFill/>
        </p:spPr>
        <p:txBody>
          <a:bodyPr wrap="square" anchor="t" lIns="45720" rIns="45720" tIns="27432" bIns="27432">
            <a:spAutoFit/>
          </a:bodyPr>
          <a:lstStyle/>
          <a:p>
            <a:pPr algn="l">
              <a:spcAft>
                <a:spcPts val="500"/>
              </a:spcAft>
            </a:pPr>
            <a:r>
              <a:rPr sz="1400" b="1">
                <a:solidFill>
                  <a:srgbClr val="ED1C24"/>
                </a:solidFill>
                <a:latin typeface="Arial"/>
              </a:rPr>
              <a:t>▪  </a:t>
            </a:r>
            <a:r>
              <a:rPr sz="1400" b="0">
                <a:solidFill>
                  <a:srgbClr val="1D0F1E"/>
                </a:solidFill>
                <a:latin typeface="Arial"/>
              </a:rPr>
              <a:t>Không tiết lộ, sao chép, mua bán thông tin bảo mật khi chưa có văn bản đồng ý</a:t>
            </a:r>
          </a:p>
          <a:p>
            <a:pPr algn="l">
              <a:spcAft>
                <a:spcPts val="500"/>
              </a:spcAft>
            </a:pPr>
            <a:r>
              <a:rPr sz="1400" b="1">
                <a:solidFill>
                  <a:srgbClr val="ED1C24"/>
                </a:solidFill>
                <a:latin typeface="Arial"/>
              </a:rPr>
              <a:t>▪  </a:t>
            </a:r>
            <a:r>
              <a:rPr sz="1400" b="0">
                <a:solidFill>
                  <a:srgbClr val="1D0F1E"/>
                </a:solidFill>
                <a:latin typeface="Arial"/>
              </a:rPr>
              <a:t>Tuân thủ Chính sách Bảo mật tại mọi thời điểm</a:t>
            </a:r>
          </a:p>
          <a:p>
            <a:pPr algn="l">
              <a:spcAft>
                <a:spcPts val="500"/>
              </a:spcAft>
            </a:pPr>
            <a:r>
              <a:rPr sz="1400" b="1">
                <a:solidFill>
                  <a:srgbClr val="ED1C24"/>
                </a:solidFill>
                <a:latin typeface="Arial"/>
              </a:rPr>
              <a:t>▪  </a:t>
            </a:r>
            <a:r>
              <a:rPr sz="1400" b="0">
                <a:solidFill>
                  <a:srgbClr val="1D0F1E"/>
                </a:solidFill>
                <a:latin typeface="Arial"/>
              </a:rPr>
              <a:t>Không phát tán ảnh chụp màn hình phần mềm lên Internet</a:t>
            </a:r>
          </a:p>
        </p:txBody>
      </p:sp>
      <p:sp>
        <p:nvSpPr>
          <p:cNvPr id="14" name="Rectangle 13"/>
          <p:cNvSpPr/>
          <p:nvPr/>
        </p:nvSpPr>
        <p:spPr>
          <a:xfrm>
            <a:off x="4288536" y="1828800"/>
            <a:ext cx="3611880" cy="38404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88536" y="1828800"/>
            <a:ext cx="3611880"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1416" y="2029968"/>
            <a:ext cx="324612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Sở hữu trí tuệ</a:t>
            </a:r>
          </a:p>
        </p:txBody>
      </p:sp>
      <p:sp>
        <p:nvSpPr>
          <p:cNvPr id="17" name="TextBox 16"/>
          <p:cNvSpPr txBox="1"/>
          <p:nvPr/>
        </p:nvSpPr>
        <p:spPr>
          <a:xfrm>
            <a:off x="4471416" y="2560320"/>
            <a:ext cx="3246120" cy="3017520"/>
          </a:xfrm>
          <a:prstGeom prst="rect">
            <a:avLst/>
          </a:prstGeom>
          <a:noFill/>
        </p:spPr>
        <p:txBody>
          <a:bodyPr wrap="square" anchor="t" lIns="45720" rIns="45720" tIns="27432" bIns="27432">
            <a:spAutoFit/>
          </a:bodyPr>
          <a:lstStyle/>
          <a:p>
            <a:pPr algn="l">
              <a:spcAft>
                <a:spcPts val="500"/>
              </a:spcAft>
            </a:pPr>
            <a:r>
              <a:rPr sz="1400" b="1">
                <a:solidFill>
                  <a:srgbClr val="ED1C24"/>
                </a:solidFill>
                <a:latin typeface="Arial"/>
              </a:rPr>
              <a:t>▪  </a:t>
            </a:r>
            <a:r>
              <a:rPr sz="1400" b="0">
                <a:solidFill>
                  <a:srgbClr val="1D0F1E"/>
                </a:solidFill>
                <a:latin typeface="Arial"/>
              </a:rPr>
              <a:t>Sản phẩm, mã nguồn, dữ liệu do mình tạo ra trong thời gian HĐLĐ thuộc Công ty</a:t>
            </a:r>
          </a:p>
          <a:p>
            <a:pPr algn="l">
              <a:spcAft>
                <a:spcPts val="500"/>
              </a:spcAft>
            </a:pPr>
            <a:r>
              <a:rPr sz="1400" b="1">
                <a:solidFill>
                  <a:srgbClr val="ED1C24"/>
                </a:solidFill>
                <a:latin typeface="Arial"/>
              </a:rPr>
              <a:t>▪  </a:t>
            </a:r>
            <a:r>
              <a:rPr sz="1400" b="0">
                <a:solidFill>
                  <a:srgbClr val="1D0F1E"/>
                </a:solidFill>
                <a:latin typeface="Arial"/>
              </a:rPr>
              <a:t>Bàn giao email, tài khoản hệ thống khi nghỉ việc</a:t>
            </a:r>
          </a:p>
          <a:p>
            <a:pPr algn="l">
              <a:spcAft>
                <a:spcPts val="500"/>
              </a:spcAft>
            </a:pPr>
            <a:r>
              <a:rPr sz="1400" b="1">
                <a:solidFill>
                  <a:srgbClr val="ED1C24"/>
                </a:solidFill>
                <a:latin typeface="Arial"/>
              </a:rPr>
              <a:t>▪  </a:t>
            </a:r>
            <a:r>
              <a:rPr sz="1400" b="0">
                <a:solidFill>
                  <a:srgbClr val="1D0F1E"/>
                </a:solidFill>
                <a:latin typeface="Arial"/>
              </a:rPr>
              <a:t>Phối hợp gỡ bỏ vai trò trên các nền tảng đã bàn giao</a:t>
            </a:r>
          </a:p>
        </p:txBody>
      </p:sp>
      <p:sp>
        <p:nvSpPr>
          <p:cNvPr id="18" name="Rectangle 17"/>
          <p:cNvSpPr/>
          <p:nvPr/>
        </p:nvSpPr>
        <p:spPr>
          <a:xfrm>
            <a:off x="8119872" y="1828800"/>
            <a:ext cx="3611880" cy="38404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9872" y="1828800"/>
            <a:ext cx="3611880" cy="73152"/>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2029968"/>
            <a:ext cx="324612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Quan hệ công việc</a:t>
            </a:r>
          </a:p>
        </p:txBody>
      </p:sp>
      <p:sp>
        <p:nvSpPr>
          <p:cNvPr id="21" name="TextBox 20"/>
          <p:cNvSpPr txBox="1"/>
          <p:nvPr/>
        </p:nvSpPr>
        <p:spPr>
          <a:xfrm>
            <a:off x="8302752" y="2560320"/>
            <a:ext cx="3246120" cy="3017520"/>
          </a:xfrm>
          <a:prstGeom prst="rect">
            <a:avLst/>
          </a:prstGeom>
          <a:noFill/>
        </p:spPr>
        <p:txBody>
          <a:bodyPr wrap="square" anchor="t" lIns="45720" rIns="45720" tIns="27432" bIns="27432">
            <a:spAutoFit/>
          </a:bodyPr>
          <a:lstStyle/>
          <a:p>
            <a:pPr algn="l">
              <a:spcAft>
                <a:spcPts val="500"/>
              </a:spcAft>
            </a:pPr>
            <a:r>
              <a:rPr sz="1400" b="1">
                <a:solidFill>
                  <a:srgbClr val="ED1C24"/>
                </a:solidFill>
                <a:latin typeface="Arial"/>
              </a:rPr>
              <a:t>▪  </a:t>
            </a:r>
            <a:r>
              <a:rPr sz="1400" b="0">
                <a:solidFill>
                  <a:srgbClr val="1D0F1E"/>
                </a:solidFill>
                <a:latin typeface="Arial"/>
              </a:rPr>
              <a:t>Không lôi kéo nhân sự của Công ty sang đơn vị khác</a:t>
            </a:r>
          </a:p>
          <a:p>
            <a:pPr algn="l">
              <a:spcAft>
                <a:spcPts val="500"/>
              </a:spcAft>
            </a:pPr>
            <a:r>
              <a:rPr sz="1400" b="1">
                <a:solidFill>
                  <a:srgbClr val="ED1C24"/>
                </a:solidFill>
                <a:latin typeface="Arial"/>
              </a:rPr>
              <a:t>▪  </a:t>
            </a:r>
            <a:r>
              <a:rPr sz="1400" b="0">
                <a:solidFill>
                  <a:srgbClr val="1D0F1E"/>
                </a:solidFill>
                <a:latin typeface="Arial"/>
              </a:rPr>
              <a:t>Không đưa thông tin tuyển dụng của bên khác cho nhân sự Công ty</a:t>
            </a:r>
          </a:p>
          <a:p>
            <a:pPr algn="l">
              <a:spcAft>
                <a:spcPts val="500"/>
              </a:spcAft>
            </a:pPr>
            <a:r>
              <a:rPr sz="1400" b="1">
                <a:solidFill>
                  <a:srgbClr val="ED1C24"/>
                </a:solidFill>
                <a:latin typeface="Arial"/>
              </a:rPr>
              <a:t>▪  </a:t>
            </a:r>
            <a:r>
              <a:rPr sz="1400" b="0">
                <a:solidFill>
                  <a:srgbClr val="1D0F1E"/>
                </a:solidFill>
                <a:latin typeface="Arial"/>
              </a:rPr>
              <a:t>Không nói xấu, không đưa thông tin bất lợi làm giảm uy tín Công ty, kể cả nặc danh</a:t>
            </a:r>
          </a:p>
        </p:txBody>
      </p:sp>
      <p:sp>
        <p:nvSpPr>
          <p:cNvPr id="22" name="Rectangle 21"/>
          <p:cNvSpPr/>
          <p:nvPr/>
        </p:nvSpPr>
        <p:spPr>
          <a:xfrm>
            <a:off x="457200" y="5806440"/>
            <a:ext cx="11247120" cy="502920"/>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5806440"/>
            <a:ext cx="10789920" cy="502920"/>
          </a:xfrm>
          <a:prstGeom prst="rect">
            <a:avLst/>
          </a:prstGeom>
          <a:noFill/>
        </p:spPr>
        <p:txBody>
          <a:bodyPr wrap="square" anchor="ctr" lIns="45720" rIns="45720" tIns="27432" bIns="27432">
            <a:spAutoFit/>
          </a:bodyPr>
          <a:lstStyle/>
          <a:p>
            <a:pPr algn="l">
              <a:spcAft>
                <a:spcPts val="600"/>
              </a:spcAft>
            </a:pPr>
            <a:r>
              <a:rPr sz="1400" b="1">
                <a:solidFill>
                  <a:srgbClr val="FFFFFF"/>
                </a:solidFill>
                <a:latin typeface="Arial"/>
              </a:rPr>
              <a:t>Vi phạm: bồi thường tối thiểu 200.000.000 VNĐ/trường hợp hoặc theo thiệt hại thực tế, ngoài trách nhiệm theo pháp luật.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7955279" y="0"/>
            <a:ext cx="3840481" cy="6858000"/>
          </a:xfrm>
          <a:custGeom>
            <a:avLst/>
            <a:gdLst/>
            <a:ahLst/>
            <a:cxnLst/>
            <a:rect l="l" t="t" r="r" b="b"/>
            <a:pathLst>
              <a:path w="3840481" h="6858000">
                <a:moveTo>
                  <a:pt x="548641" y="0"/>
                </a:moveTo>
                <a:lnTo>
                  <a:pt x="3840481" y="0"/>
                </a:lnTo>
                <a:lnTo>
                  <a:pt x="1645921" y="6858000"/>
                </a:lnTo>
                <a:lnTo>
                  <a:pt x="0" y="6858000"/>
                </a:lnTo>
                <a:close/>
              </a:path>
            </a:pathLst>
          </a:cu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058400" y="2807208"/>
            <a:ext cx="2133295" cy="4050792"/>
          </a:xfrm>
          <a:custGeom>
            <a:avLst/>
            <a:gdLst/>
            <a:ahLst/>
            <a:cxnLst/>
            <a:rect l="l" t="t" r="r" b="b"/>
            <a:pathLst>
              <a:path w="2133295" h="4050792">
                <a:moveTo>
                  <a:pt x="822960" y="0"/>
                </a:moveTo>
                <a:lnTo>
                  <a:pt x="2133295" y="0"/>
                </a:lnTo>
                <a:lnTo>
                  <a:pt x="2133295" y="4050792"/>
                </a:lnTo>
                <a:lnTo>
                  <a:pt x="0" y="4050792"/>
                </a:lnTo>
                <a:close/>
              </a:path>
            </a:pathLst>
          </a:cu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6" name="Rectangle 5"/>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7" name="Rectangle 6"/>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8" name="TextBox 7"/>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FFFFFF"/>
                </a:solidFill>
                <a:latin typeface="Arial"/>
              </a:rPr>
              <a:t>Education</a:t>
            </a:r>
          </a:p>
          <a:p>
            <a:pPr algn="l">
              <a:spcAft>
                <a:spcPts val="0"/>
              </a:spcAft>
            </a:pPr>
            <a:r>
              <a:rPr sz="1000" b="1">
                <a:solidFill>
                  <a:srgbClr val="FFFFFF"/>
                </a:solidFill>
                <a:latin typeface="Arial"/>
              </a:rPr>
              <a:t>Group</a:t>
            </a:r>
          </a:p>
        </p:txBody>
      </p:sp>
      <p:sp>
        <p:nvSpPr>
          <p:cNvPr id="9" name="TextBox 8"/>
          <p:cNvSpPr txBox="1"/>
          <p:nvPr/>
        </p:nvSpPr>
        <p:spPr>
          <a:xfrm>
            <a:off x="731520" y="2103120"/>
            <a:ext cx="5486400" cy="1280160"/>
          </a:xfrm>
          <a:prstGeom prst="rect">
            <a:avLst/>
          </a:prstGeom>
          <a:noFill/>
        </p:spPr>
        <p:txBody>
          <a:bodyPr wrap="square" anchor="t" lIns="45720" rIns="45720" tIns="27432" bIns="27432">
            <a:spAutoFit/>
          </a:bodyPr>
          <a:lstStyle/>
          <a:p>
            <a:pPr algn="l">
              <a:spcAft>
                <a:spcPts val="600"/>
              </a:spcAft>
            </a:pPr>
            <a:r>
              <a:rPr sz="7200" b="1">
                <a:solidFill>
                  <a:srgbClr val="FDC01B"/>
                </a:solidFill>
                <a:latin typeface="Arial"/>
              </a:rPr>
              <a:t>02</a:t>
            </a:r>
          </a:p>
        </p:txBody>
      </p:sp>
      <p:sp>
        <p:nvSpPr>
          <p:cNvPr id="10" name="TextBox 9"/>
          <p:cNvSpPr txBox="1"/>
          <p:nvPr/>
        </p:nvSpPr>
        <p:spPr>
          <a:xfrm>
            <a:off x="731520" y="3383280"/>
            <a:ext cx="7315200" cy="1463040"/>
          </a:xfrm>
          <a:prstGeom prst="rect">
            <a:avLst/>
          </a:prstGeom>
          <a:noFill/>
        </p:spPr>
        <p:txBody>
          <a:bodyPr wrap="square" anchor="t" lIns="45720" rIns="45720" tIns="27432" bIns="27432">
            <a:spAutoFit/>
          </a:bodyPr>
          <a:lstStyle/>
          <a:p>
            <a:pPr algn="l">
              <a:spcAft>
                <a:spcPts val="600"/>
              </a:spcAft>
            </a:pPr>
            <a:r>
              <a:rPr sz="3600" b="1">
                <a:solidFill>
                  <a:srgbClr val="FFFFFF"/>
                </a:solidFill>
                <a:latin typeface="Arial"/>
              </a:rPr>
              <a:t>NỘI QUY LAO ĐỘNG &amp; XỬ LÝ KỶ LUẬT</a:t>
            </a:r>
          </a:p>
        </p:txBody>
      </p:sp>
      <p:sp>
        <p:nvSpPr>
          <p:cNvPr id="11" name="Rectangle 10"/>
          <p:cNvSpPr/>
          <p:nvPr/>
        </p:nvSpPr>
        <p:spPr>
          <a:xfrm>
            <a:off x="777240" y="484632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029200"/>
            <a:ext cx="7315200" cy="548640"/>
          </a:xfrm>
          <a:prstGeom prst="rect">
            <a:avLst/>
          </a:prstGeom>
          <a:noFill/>
        </p:spPr>
        <p:txBody>
          <a:bodyPr wrap="square" anchor="t" lIns="45720" rIns="45720" tIns="27432" bIns="27432">
            <a:spAutoFit/>
          </a:bodyPr>
          <a:lstStyle/>
          <a:p>
            <a:pPr algn="l">
              <a:spcAft>
                <a:spcPts val="600"/>
              </a:spcAft>
            </a:pPr>
            <a:r>
              <a:rPr sz="1600" b="0">
                <a:solidFill>
                  <a:srgbClr val="FFFFFF"/>
                </a:solidFill>
                <a:latin typeface="Arial"/>
              </a:rPr>
              <a:t>Nội quy lao động số 01042024/NQLĐ–BLA</a:t>
            </a:r>
          </a:p>
        </p:txBody>
      </p:sp>
      <p:sp>
        <p:nvSpPr>
          <p:cNvPr id="13" name="TextBox 12"/>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FFFFFF"/>
                </a:solidFill>
                <a:latin typeface="Arial"/>
              </a:rPr>
              <a:t>BLA Education Group  |  Đào tạo nội bộ – Khối HCNS</a:t>
            </a:r>
          </a:p>
        </p:txBody>
      </p:sp>
      <p:sp>
        <p:nvSpPr>
          <p:cNvPr id="14" name="TextBox 13"/>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FFFFFF"/>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THỜI GIỜ LÀM VIỆC &amp; NGHỈ NGƠI</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7</a:t>
            </a:r>
          </a:p>
        </p:txBody>
      </p:sp>
      <p:sp>
        <p:nvSpPr>
          <p:cNvPr id="10" name="Rectangle 9"/>
          <p:cNvSpPr/>
          <p:nvPr/>
        </p:nvSpPr>
        <p:spPr>
          <a:xfrm>
            <a:off x="457200" y="1828800"/>
            <a:ext cx="3630168" cy="1737360"/>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1965960"/>
            <a:ext cx="3200400" cy="822960"/>
          </a:xfrm>
          <a:prstGeom prst="rect">
            <a:avLst/>
          </a:prstGeom>
          <a:noFill/>
        </p:spPr>
        <p:txBody>
          <a:bodyPr wrap="square" anchor="t" lIns="45720" rIns="45720" tIns="27432" bIns="27432">
            <a:spAutoFit/>
          </a:bodyPr>
          <a:lstStyle/>
          <a:p>
            <a:pPr algn="l">
              <a:spcAft>
                <a:spcPts val="600"/>
              </a:spcAft>
            </a:pPr>
            <a:r>
              <a:rPr sz="3600" b="1">
                <a:solidFill>
                  <a:srgbClr val="FFFFFF"/>
                </a:solidFill>
                <a:latin typeface="Arial"/>
              </a:rPr>
              <a:t>44 giờ</a:t>
            </a:r>
          </a:p>
        </p:txBody>
      </p:sp>
      <p:sp>
        <p:nvSpPr>
          <p:cNvPr id="12" name="TextBox 11"/>
          <p:cNvSpPr txBox="1"/>
          <p:nvPr/>
        </p:nvSpPr>
        <p:spPr>
          <a:xfrm>
            <a:off x="685800" y="2788920"/>
            <a:ext cx="3200400" cy="457200"/>
          </a:xfrm>
          <a:prstGeom prst="rect">
            <a:avLst/>
          </a:prstGeom>
          <a:noFill/>
        </p:spPr>
        <p:txBody>
          <a:bodyPr wrap="square" anchor="t" lIns="45720" rIns="45720" tIns="27432" bIns="27432">
            <a:spAutoFit/>
          </a:bodyPr>
          <a:lstStyle/>
          <a:p>
            <a:pPr algn="l">
              <a:spcAft>
                <a:spcPts val="600"/>
              </a:spcAft>
            </a:pPr>
            <a:r>
              <a:rPr sz="1500" b="0">
                <a:solidFill>
                  <a:srgbClr val="FFFFFF"/>
                </a:solidFill>
                <a:latin typeface="Arial"/>
              </a:rPr>
              <a:t>mỗi tuần</a:t>
            </a:r>
          </a:p>
        </p:txBody>
      </p:sp>
      <p:sp>
        <p:nvSpPr>
          <p:cNvPr id="13" name="Rectangle 12"/>
          <p:cNvSpPr/>
          <p:nvPr/>
        </p:nvSpPr>
        <p:spPr>
          <a:xfrm>
            <a:off x="4279392" y="1828800"/>
            <a:ext cx="3630168" cy="1737360"/>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07992" y="1965960"/>
            <a:ext cx="3200400" cy="822960"/>
          </a:xfrm>
          <a:prstGeom prst="rect">
            <a:avLst/>
          </a:prstGeom>
          <a:noFill/>
        </p:spPr>
        <p:txBody>
          <a:bodyPr wrap="square" anchor="t" lIns="45720" rIns="45720" tIns="27432" bIns="27432">
            <a:spAutoFit/>
          </a:bodyPr>
          <a:lstStyle/>
          <a:p>
            <a:pPr algn="l">
              <a:spcAft>
                <a:spcPts val="600"/>
              </a:spcAft>
            </a:pPr>
            <a:r>
              <a:rPr sz="3600" b="1">
                <a:solidFill>
                  <a:srgbClr val="1D0F1E"/>
                </a:solidFill>
                <a:latin typeface="Arial"/>
              </a:rPr>
              <a:t>5.5 ngày</a:t>
            </a:r>
          </a:p>
        </p:txBody>
      </p:sp>
      <p:sp>
        <p:nvSpPr>
          <p:cNvPr id="15" name="TextBox 14"/>
          <p:cNvSpPr txBox="1"/>
          <p:nvPr/>
        </p:nvSpPr>
        <p:spPr>
          <a:xfrm>
            <a:off x="4507992" y="2788920"/>
            <a:ext cx="3200400" cy="457200"/>
          </a:xfrm>
          <a:prstGeom prst="rect">
            <a:avLst/>
          </a:prstGeom>
          <a:noFill/>
        </p:spPr>
        <p:txBody>
          <a:bodyPr wrap="square" anchor="t" lIns="45720" rIns="45720" tIns="27432" bIns="27432">
            <a:spAutoFit/>
          </a:bodyPr>
          <a:lstStyle/>
          <a:p>
            <a:pPr algn="l">
              <a:spcAft>
                <a:spcPts val="600"/>
              </a:spcAft>
            </a:pPr>
            <a:r>
              <a:rPr sz="1500" b="0">
                <a:solidFill>
                  <a:srgbClr val="1D0F1E"/>
                </a:solidFill>
                <a:latin typeface="Arial"/>
              </a:rPr>
              <a:t>từ thứ Hai đến sáng thứ Bảy</a:t>
            </a:r>
          </a:p>
        </p:txBody>
      </p:sp>
      <p:sp>
        <p:nvSpPr>
          <p:cNvPr id="16" name="Rectangle 15"/>
          <p:cNvSpPr/>
          <p:nvPr/>
        </p:nvSpPr>
        <p:spPr>
          <a:xfrm>
            <a:off x="8101583" y="1828800"/>
            <a:ext cx="3630168" cy="1737360"/>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30183" y="1965960"/>
            <a:ext cx="3200400" cy="822960"/>
          </a:xfrm>
          <a:prstGeom prst="rect">
            <a:avLst/>
          </a:prstGeom>
          <a:noFill/>
        </p:spPr>
        <p:txBody>
          <a:bodyPr wrap="square" anchor="t" lIns="45720" rIns="45720" tIns="27432" bIns="27432">
            <a:spAutoFit/>
          </a:bodyPr>
          <a:lstStyle/>
          <a:p>
            <a:pPr algn="l">
              <a:spcAft>
                <a:spcPts val="600"/>
              </a:spcAft>
            </a:pPr>
            <a:r>
              <a:rPr sz="3600" b="1">
                <a:solidFill>
                  <a:srgbClr val="FFFFFF"/>
                </a:solidFill>
                <a:latin typeface="Arial"/>
              </a:rPr>
              <a:t>8 giờ</a:t>
            </a:r>
          </a:p>
        </p:txBody>
      </p:sp>
      <p:sp>
        <p:nvSpPr>
          <p:cNvPr id="18" name="TextBox 17"/>
          <p:cNvSpPr txBox="1"/>
          <p:nvPr/>
        </p:nvSpPr>
        <p:spPr>
          <a:xfrm>
            <a:off x="8330183" y="2788920"/>
            <a:ext cx="3200400" cy="457200"/>
          </a:xfrm>
          <a:prstGeom prst="rect">
            <a:avLst/>
          </a:prstGeom>
          <a:noFill/>
        </p:spPr>
        <p:txBody>
          <a:bodyPr wrap="square" anchor="t" lIns="45720" rIns="45720" tIns="27432" bIns="27432">
            <a:spAutoFit/>
          </a:bodyPr>
          <a:lstStyle/>
          <a:p>
            <a:pPr algn="l">
              <a:spcAft>
                <a:spcPts val="600"/>
              </a:spcAft>
            </a:pPr>
            <a:r>
              <a:rPr sz="1500" b="0">
                <a:solidFill>
                  <a:srgbClr val="FFFFFF"/>
                </a:solidFill>
                <a:latin typeface="Arial"/>
              </a:rPr>
              <a:t>mỗi ngày làm việc</a:t>
            </a:r>
          </a:p>
        </p:txBody>
      </p:sp>
      <p:sp>
        <p:nvSpPr>
          <p:cNvPr id="19" name="Rectangle 18"/>
          <p:cNvSpPr/>
          <p:nvPr/>
        </p:nvSpPr>
        <p:spPr>
          <a:xfrm>
            <a:off x="457200" y="3840480"/>
            <a:ext cx="11247120" cy="210312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57200" y="3840480"/>
            <a:ext cx="1124712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041648"/>
            <a:ext cx="1088136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Lịch làm việc chi tiết</a:t>
            </a:r>
          </a:p>
        </p:txBody>
      </p:sp>
      <p:sp>
        <p:nvSpPr>
          <p:cNvPr id="22" name="TextBox 21"/>
          <p:cNvSpPr txBox="1"/>
          <p:nvPr/>
        </p:nvSpPr>
        <p:spPr>
          <a:xfrm>
            <a:off x="640080" y="4572000"/>
            <a:ext cx="10881360" cy="1280160"/>
          </a:xfrm>
          <a:prstGeom prst="rect">
            <a:avLst/>
          </a:prstGeom>
          <a:noFill/>
        </p:spPr>
        <p:txBody>
          <a:bodyPr wrap="square" anchor="t" lIns="45720" rIns="45720" tIns="27432" bIns="27432">
            <a:spAutoFit/>
          </a:bodyPr>
          <a:lstStyle/>
          <a:p>
            <a:pPr algn="l">
              <a:spcAft>
                <a:spcPts val="500"/>
              </a:spcAft>
            </a:pPr>
            <a:r>
              <a:rPr sz="1500" b="1">
                <a:solidFill>
                  <a:srgbClr val="ED1C24"/>
                </a:solidFill>
                <a:latin typeface="Arial"/>
              </a:rPr>
              <a:t>▪  </a:t>
            </a:r>
            <a:r>
              <a:rPr sz="1500" b="1">
                <a:solidFill>
                  <a:srgbClr val="1D0F1E"/>
                </a:solidFill>
                <a:latin typeface="Arial"/>
              </a:rPr>
              <a:t>Buổi sáng: </a:t>
            </a:r>
            <a:r>
              <a:rPr sz="1500" b="0">
                <a:solidFill>
                  <a:srgbClr val="1D0F1E"/>
                </a:solidFill>
                <a:latin typeface="Arial"/>
              </a:rPr>
              <a:t>8:00 – 12:00</a:t>
            </a:r>
          </a:p>
          <a:p>
            <a:pPr algn="l">
              <a:spcAft>
                <a:spcPts val="500"/>
              </a:spcAft>
            </a:pPr>
            <a:r>
              <a:rPr sz="1500" b="1">
                <a:solidFill>
                  <a:srgbClr val="ED1C24"/>
                </a:solidFill>
                <a:latin typeface="Arial"/>
              </a:rPr>
              <a:t>▪  </a:t>
            </a:r>
            <a:r>
              <a:rPr sz="1500" b="1">
                <a:solidFill>
                  <a:srgbClr val="1D0F1E"/>
                </a:solidFill>
                <a:latin typeface="Arial"/>
              </a:rPr>
              <a:t>Nghỉ trưa: </a:t>
            </a:r>
            <a:r>
              <a:rPr sz="1500" b="0">
                <a:solidFill>
                  <a:srgbClr val="1D0F1E"/>
                </a:solidFill>
                <a:latin typeface="Arial"/>
              </a:rPr>
              <a:t>12:00 – 13:00</a:t>
            </a:r>
          </a:p>
          <a:p>
            <a:pPr algn="l">
              <a:spcAft>
                <a:spcPts val="500"/>
              </a:spcAft>
            </a:pPr>
            <a:r>
              <a:rPr sz="1500" b="1">
                <a:solidFill>
                  <a:srgbClr val="ED1C24"/>
                </a:solidFill>
                <a:latin typeface="Arial"/>
              </a:rPr>
              <a:t>▪  </a:t>
            </a:r>
            <a:r>
              <a:rPr sz="1500" b="1">
                <a:solidFill>
                  <a:srgbClr val="1D0F1E"/>
                </a:solidFill>
                <a:latin typeface="Arial"/>
              </a:rPr>
              <a:t>Buổi chiều: </a:t>
            </a:r>
            <a:r>
              <a:rPr sz="1500" b="0">
                <a:solidFill>
                  <a:srgbClr val="1D0F1E"/>
                </a:solidFill>
                <a:latin typeface="Arial"/>
              </a:rPr>
              <a:t>13:00 – 17:00</a:t>
            </a:r>
          </a:p>
          <a:p>
            <a:pPr algn="l">
              <a:spcAft>
                <a:spcPts val="500"/>
              </a:spcAft>
            </a:pPr>
            <a:r>
              <a:rPr sz="1500" b="1">
                <a:solidFill>
                  <a:srgbClr val="ED1C24"/>
                </a:solidFill>
                <a:latin typeface="Arial"/>
              </a:rPr>
              <a:t>▪  </a:t>
            </a:r>
            <a:r>
              <a:rPr sz="1500" b="1">
                <a:solidFill>
                  <a:srgbClr val="1D0F1E"/>
                </a:solidFill>
                <a:latin typeface="Arial"/>
              </a:rPr>
              <a:t>Nghỉ hàng tuần: </a:t>
            </a:r>
            <a:r>
              <a:rPr sz="1500" b="0">
                <a:solidFill>
                  <a:srgbClr val="1D0F1E"/>
                </a:solidFill>
                <a:latin typeface="Arial"/>
              </a:rPr>
              <a:t>chiều thứ Bảy và Chủ nhật. Giờ làm có thể điều chỉnh theo công việc và sẽ được thông báo trước.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NGHỈ PHÉP, NGHỈ LỄ &amp; CHẾ ĐỘ</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8</a:t>
            </a:r>
          </a:p>
        </p:txBody>
      </p:sp>
      <p:sp>
        <p:nvSpPr>
          <p:cNvPr id="10" name="Rectangle 9"/>
          <p:cNvSpPr/>
          <p:nvPr/>
        </p:nvSpPr>
        <p:spPr>
          <a:xfrm>
            <a:off x="457200" y="1828800"/>
            <a:ext cx="5532120" cy="2057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553212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516635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Nghỉ lễ: 10 ngày hưởng nguyên lương</a:t>
            </a:r>
          </a:p>
        </p:txBody>
      </p:sp>
      <p:sp>
        <p:nvSpPr>
          <p:cNvPr id="13" name="TextBox 12"/>
          <p:cNvSpPr txBox="1"/>
          <p:nvPr/>
        </p:nvSpPr>
        <p:spPr>
          <a:xfrm>
            <a:off x="640080" y="2560320"/>
            <a:ext cx="5166359" cy="1234440"/>
          </a:xfrm>
          <a:prstGeom prst="rect">
            <a:avLst/>
          </a:prstGeom>
          <a:noFill/>
        </p:spPr>
        <p:txBody>
          <a:bodyPr wrap="square" anchor="t" lIns="45720" rIns="45720" tIns="27432" bIns="27432">
            <a:spAutoFit/>
          </a:bodyPr>
          <a:lstStyle/>
          <a:p>
            <a:pPr algn="l">
              <a:spcAft>
                <a:spcPts val="500"/>
              </a:spcAft>
            </a:pPr>
            <a:r>
              <a:rPr sz="1400" b="1">
                <a:solidFill>
                  <a:srgbClr val="ED1C24"/>
                </a:solidFill>
                <a:latin typeface="Arial"/>
              </a:rPr>
              <a:t>▪  </a:t>
            </a:r>
            <a:r>
              <a:rPr sz="1400" b="0">
                <a:solidFill>
                  <a:srgbClr val="1D0F1E"/>
                </a:solidFill>
                <a:latin typeface="Arial"/>
              </a:rPr>
              <a:t>Tết Dương lịch 1 ngày  •  Tết Nguyên đán 5 ngày</a:t>
            </a:r>
          </a:p>
          <a:p>
            <a:pPr algn="l">
              <a:spcAft>
                <a:spcPts val="500"/>
              </a:spcAft>
            </a:pPr>
            <a:r>
              <a:rPr sz="1400" b="1">
                <a:solidFill>
                  <a:srgbClr val="ED1C24"/>
                </a:solidFill>
                <a:latin typeface="Arial"/>
              </a:rPr>
              <a:t>▪  </a:t>
            </a:r>
            <a:r>
              <a:rPr sz="1400" b="0">
                <a:solidFill>
                  <a:srgbClr val="1D0F1E"/>
                </a:solidFill>
                <a:latin typeface="Arial"/>
              </a:rPr>
              <a:t>Giỗ Tổ Hùng Vương 1 ngày  •  30/4 và 1/5 mỗi ngày 1 ngày</a:t>
            </a:r>
          </a:p>
          <a:p>
            <a:pPr algn="l">
              <a:spcAft>
                <a:spcPts val="500"/>
              </a:spcAft>
            </a:pPr>
            <a:r>
              <a:rPr sz="1400" b="1">
                <a:solidFill>
                  <a:srgbClr val="ED1C24"/>
                </a:solidFill>
                <a:latin typeface="Arial"/>
              </a:rPr>
              <a:t>▪  </a:t>
            </a:r>
            <a:r>
              <a:rPr sz="1400" b="0">
                <a:solidFill>
                  <a:srgbClr val="1D0F1E"/>
                </a:solidFill>
                <a:latin typeface="Arial"/>
              </a:rPr>
              <a:t>Quốc khánh 2 ngày</a:t>
            </a:r>
          </a:p>
        </p:txBody>
      </p:sp>
      <p:sp>
        <p:nvSpPr>
          <p:cNvPr id="14" name="Rectangle 13"/>
          <p:cNvSpPr/>
          <p:nvPr/>
        </p:nvSpPr>
        <p:spPr>
          <a:xfrm>
            <a:off x="6199632" y="1828800"/>
            <a:ext cx="5532120" cy="2057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1828800"/>
            <a:ext cx="5532120"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2029968"/>
            <a:ext cx="516635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Nghỉ phép năm</a:t>
            </a:r>
          </a:p>
        </p:txBody>
      </p:sp>
      <p:sp>
        <p:nvSpPr>
          <p:cNvPr id="17" name="TextBox 16"/>
          <p:cNvSpPr txBox="1"/>
          <p:nvPr/>
        </p:nvSpPr>
        <p:spPr>
          <a:xfrm>
            <a:off x="6382512" y="2560320"/>
            <a:ext cx="5166359" cy="1234440"/>
          </a:xfrm>
          <a:prstGeom prst="rect">
            <a:avLst/>
          </a:prstGeom>
          <a:noFill/>
        </p:spPr>
        <p:txBody>
          <a:bodyPr wrap="square" anchor="t" lIns="45720" rIns="45720" tIns="27432" bIns="27432">
            <a:spAutoFit/>
          </a:bodyPr>
          <a:lstStyle/>
          <a:p>
            <a:pPr algn="l">
              <a:spcAft>
                <a:spcPts val="500"/>
              </a:spcAft>
            </a:pPr>
            <a:r>
              <a:rPr sz="1400" b="1">
                <a:solidFill>
                  <a:srgbClr val="ED1C24"/>
                </a:solidFill>
                <a:latin typeface="Arial"/>
              </a:rPr>
              <a:t>▪  </a:t>
            </a:r>
            <a:r>
              <a:rPr sz="1400" b="0">
                <a:solidFill>
                  <a:srgbClr val="1D0F1E"/>
                </a:solidFill>
                <a:latin typeface="Arial"/>
              </a:rPr>
              <a:t>12 ngày làm việc; cứ 5 năm thâm niên +1 ngày</a:t>
            </a:r>
          </a:p>
          <a:p>
            <a:pPr algn="l">
              <a:spcAft>
                <a:spcPts val="500"/>
              </a:spcAft>
            </a:pPr>
            <a:r>
              <a:rPr sz="1400" b="1">
                <a:solidFill>
                  <a:srgbClr val="ED1C24"/>
                </a:solidFill>
                <a:latin typeface="Arial"/>
              </a:rPr>
              <a:t>▪  </a:t>
            </a:r>
            <a:r>
              <a:rPr sz="1400" b="0">
                <a:solidFill>
                  <a:srgbClr val="1D0F1E"/>
                </a:solidFill>
                <a:latin typeface="Arial"/>
              </a:rPr>
              <a:t>Nghỉ từ 5 ngày trở lên: làm đơn trước 2 tuần</a:t>
            </a:r>
          </a:p>
          <a:p>
            <a:pPr algn="l">
              <a:spcAft>
                <a:spcPts val="500"/>
              </a:spcAft>
            </a:pPr>
            <a:r>
              <a:rPr sz="1400" b="1">
                <a:solidFill>
                  <a:srgbClr val="ED1C24"/>
                </a:solidFill>
                <a:latin typeface="Arial"/>
              </a:rPr>
              <a:t>▪  </a:t>
            </a:r>
            <a:r>
              <a:rPr sz="1400" b="0">
                <a:solidFill>
                  <a:srgbClr val="1D0F1E"/>
                </a:solidFill>
                <a:latin typeface="Arial"/>
              </a:rPr>
              <a:t>Phép tồn phải nghỉ hết trước ngày 30/3 năm sau</a:t>
            </a:r>
          </a:p>
        </p:txBody>
      </p:sp>
      <p:sp>
        <p:nvSpPr>
          <p:cNvPr id="18" name="Rectangle 17"/>
          <p:cNvSpPr/>
          <p:nvPr/>
        </p:nvSpPr>
        <p:spPr>
          <a:xfrm>
            <a:off x="457200" y="4114800"/>
            <a:ext cx="5532120" cy="2011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4114800"/>
            <a:ext cx="5532120" cy="73152"/>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4315968"/>
            <a:ext cx="516635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Nghỉ việc riêng có lương</a:t>
            </a:r>
          </a:p>
        </p:txBody>
      </p:sp>
      <p:sp>
        <p:nvSpPr>
          <p:cNvPr id="21" name="TextBox 20"/>
          <p:cNvSpPr txBox="1"/>
          <p:nvPr/>
        </p:nvSpPr>
        <p:spPr>
          <a:xfrm>
            <a:off x="640080" y="4846320"/>
            <a:ext cx="5166359" cy="1188720"/>
          </a:xfrm>
          <a:prstGeom prst="rect">
            <a:avLst/>
          </a:prstGeom>
          <a:noFill/>
        </p:spPr>
        <p:txBody>
          <a:bodyPr wrap="square" anchor="t" lIns="45720" rIns="45720" tIns="27432" bIns="27432">
            <a:spAutoFit/>
          </a:bodyPr>
          <a:lstStyle/>
          <a:p>
            <a:pPr algn="l">
              <a:spcAft>
                <a:spcPts val="500"/>
              </a:spcAft>
            </a:pPr>
            <a:r>
              <a:rPr sz="1400" b="1">
                <a:solidFill>
                  <a:srgbClr val="ED1C24"/>
                </a:solidFill>
                <a:latin typeface="Arial"/>
              </a:rPr>
              <a:t>▪  </a:t>
            </a:r>
            <a:r>
              <a:rPr sz="1400" b="0">
                <a:solidFill>
                  <a:srgbClr val="1D0F1E"/>
                </a:solidFill>
                <a:latin typeface="Arial"/>
              </a:rPr>
              <a:t>Kết hôn: 3 ngày  •  Con kết hôn: 1 ngày</a:t>
            </a:r>
          </a:p>
          <a:p>
            <a:pPr algn="l">
              <a:spcAft>
                <a:spcPts val="500"/>
              </a:spcAft>
            </a:pPr>
            <a:r>
              <a:rPr sz="1400" b="1">
                <a:solidFill>
                  <a:srgbClr val="ED1C24"/>
                </a:solidFill>
                <a:latin typeface="Arial"/>
              </a:rPr>
              <a:t>▪  </a:t>
            </a:r>
            <a:r>
              <a:rPr sz="1400" b="0">
                <a:solidFill>
                  <a:srgbClr val="1D0F1E"/>
                </a:solidFill>
                <a:latin typeface="Arial"/>
              </a:rPr>
              <a:t>Cha, mẹ, vợ/chồng, con qua đời: 3 ngày</a:t>
            </a:r>
          </a:p>
          <a:p>
            <a:pPr algn="l">
              <a:spcAft>
                <a:spcPts val="500"/>
              </a:spcAft>
            </a:pPr>
            <a:r>
              <a:rPr sz="1400" b="1">
                <a:solidFill>
                  <a:srgbClr val="ED1C24"/>
                </a:solidFill>
                <a:latin typeface="Arial"/>
              </a:rPr>
              <a:t>▪  </a:t>
            </a:r>
            <a:r>
              <a:rPr sz="1400" b="0">
                <a:solidFill>
                  <a:srgbClr val="1D0F1E"/>
                </a:solidFill>
                <a:latin typeface="Arial"/>
              </a:rPr>
              <a:t>Ốm đau: hưởng trợ cấp BHXH theo quy định</a:t>
            </a:r>
          </a:p>
        </p:txBody>
      </p:sp>
      <p:sp>
        <p:nvSpPr>
          <p:cNvPr id="22" name="Rectangle 21"/>
          <p:cNvSpPr/>
          <p:nvPr/>
        </p:nvSpPr>
        <p:spPr>
          <a:xfrm>
            <a:off x="6199632" y="4114800"/>
            <a:ext cx="5532120" cy="2011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199632" y="4114800"/>
            <a:ext cx="553212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82512" y="4315968"/>
            <a:ext cx="516635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Thai sản &amp; làm thêm giờ</a:t>
            </a:r>
          </a:p>
        </p:txBody>
      </p:sp>
      <p:sp>
        <p:nvSpPr>
          <p:cNvPr id="25" name="TextBox 24"/>
          <p:cNvSpPr txBox="1"/>
          <p:nvPr/>
        </p:nvSpPr>
        <p:spPr>
          <a:xfrm>
            <a:off x="6382512" y="4846320"/>
            <a:ext cx="5166359" cy="1188720"/>
          </a:xfrm>
          <a:prstGeom prst="rect">
            <a:avLst/>
          </a:prstGeom>
          <a:noFill/>
        </p:spPr>
        <p:txBody>
          <a:bodyPr wrap="square" anchor="t" lIns="45720" rIns="45720" tIns="27432" bIns="27432">
            <a:spAutoFit/>
          </a:bodyPr>
          <a:lstStyle/>
          <a:p>
            <a:pPr algn="l">
              <a:spcAft>
                <a:spcPts val="500"/>
              </a:spcAft>
            </a:pPr>
            <a:r>
              <a:rPr sz="1400" b="1">
                <a:solidFill>
                  <a:srgbClr val="ED1C24"/>
                </a:solidFill>
                <a:latin typeface="Arial"/>
              </a:rPr>
              <a:t>▪  </a:t>
            </a:r>
            <a:r>
              <a:rPr sz="1400" b="0">
                <a:solidFill>
                  <a:srgbClr val="1D0F1E"/>
                </a:solidFill>
                <a:latin typeface="Arial"/>
              </a:rPr>
              <a:t>Lao động nữ nghỉ thai sản 6 tháng; nam 5 ngày làm việc (sinh thường)</a:t>
            </a:r>
          </a:p>
          <a:p>
            <a:pPr algn="l">
              <a:spcAft>
                <a:spcPts val="500"/>
              </a:spcAft>
            </a:pPr>
            <a:r>
              <a:rPr sz="1400" b="1">
                <a:solidFill>
                  <a:srgbClr val="ED1C24"/>
                </a:solidFill>
                <a:latin typeface="Arial"/>
              </a:rPr>
              <a:t>▪  </a:t>
            </a:r>
            <a:r>
              <a:rPr sz="1400" b="0">
                <a:solidFill>
                  <a:srgbClr val="1D0F1E"/>
                </a:solidFill>
                <a:latin typeface="Arial"/>
              </a:rPr>
              <a:t>Làm thêm: 150% ngày thường, 200% ngày nghỉ tuần, 400% ngày lễ</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ĐIỀU CẤM &amp; TRÁCH NHIỆM TRONG GIỜ LÀM VIỆC</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9</a:t>
            </a:r>
          </a:p>
        </p:txBody>
      </p:sp>
      <p:sp>
        <p:nvSpPr>
          <p:cNvPr id="10" name="Rectangle 9"/>
          <p:cNvSpPr/>
          <p:nvPr/>
        </p:nvSpPr>
        <p:spPr>
          <a:xfrm>
            <a:off x="457200" y="1828800"/>
            <a:ext cx="5532120" cy="4297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553212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516635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Nghiêm cấm</a:t>
            </a:r>
          </a:p>
        </p:txBody>
      </p:sp>
      <p:sp>
        <p:nvSpPr>
          <p:cNvPr id="13" name="TextBox 12"/>
          <p:cNvSpPr txBox="1"/>
          <p:nvPr/>
        </p:nvSpPr>
        <p:spPr>
          <a:xfrm>
            <a:off x="640080" y="2560320"/>
            <a:ext cx="5166359" cy="3474720"/>
          </a:xfrm>
          <a:prstGeom prst="rect">
            <a:avLst/>
          </a:prstGeom>
          <a:noFill/>
        </p:spPr>
        <p:txBody>
          <a:bodyPr wrap="square" anchor="t" lIns="45720" rIns="45720" tIns="27432" bIns="27432">
            <a:spAutoFit/>
          </a:bodyPr>
          <a:lstStyle/>
          <a:p>
            <a:pPr algn="l">
              <a:spcAft>
                <a:spcPts val="500"/>
              </a:spcAft>
            </a:pPr>
            <a:r>
              <a:rPr sz="1400" b="1">
                <a:solidFill>
                  <a:srgbClr val="ED1C24"/>
                </a:solidFill>
                <a:latin typeface="Arial"/>
              </a:rPr>
              <a:t>▪  </a:t>
            </a:r>
            <a:r>
              <a:rPr sz="1400" b="0">
                <a:solidFill>
                  <a:srgbClr val="1D0F1E"/>
                </a:solidFill>
                <a:latin typeface="Arial"/>
              </a:rPr>
              <a:t>Hút thuốc ngoài khu vực quy định; uống rượu bia trong giờ làm</a:t>
            </a:r>
          </a:p>
          <a:p>
            <a:pPr algn="l">
              <a:spcAft>
                <a:spcPts val="500"/>
              </a:spcAft>
            </a:pPr>
            <a:r>
              <a:rPr sz="1400" b="1">
                <a:solidFill>
                  <a:srgbClr val="ED1C24"/>
                </a:solidFill>
                <a:latin typeface="Arial"/>
              </a:rPr>
              <a:t>▪  </a:t>
            </a:r>
            <a:r>
              <a:rPr sz="1400" b="0">
                <a:solidFill>
                  <a:srgbClr val="1D0F1E"/>
                </a:solidFill>
                <a:latin typeface="Arial"/>
              </a:rPr>
              <a:t>Ngủ trong giờ làm; làm việc riêng ngoài công việc được giao</a:t>
            </a:r>
          </a:p>
          <a:p>
            <a:pPr algn="l">
              <a:spcAft>
                <a:spcPts val="500"/>
              </a:spcAft>
            </a:pPr>
            <a:r>
              <a:rPr sz="1400" b="1">
                <a:solidFill>
                  <a:srgbClr val="ED1C24"/>
                </a:solidFill>
                <a:latin typeface="Arial"/>
              </a:rPr>
              <a:t>▪  </a:t>
            </a:r>
            <a:r>
              <a:rPr sz="1400" b="0">
                <a:solidFill>
                  <a:srgbClr val="1D0F1E"/>
                </a:solidFill>
                <a:latin typeface="Arial"/>
              </a:rPr>
              <a:t>Sử dụng ma túy, tổ chức đánh bạc, tàng trữ vũ khí, chất nổ</a:t>
            </a:r>
          </a:p>
          <a:p>
            <a:pPr algn="l">
              <a:spcAft>
                <a:spcPts val="500"/>
              </a:spcAft>
            </a:pPr>
            <a:r>
              <a:rPr sz="1400" b="1">
                <a:solidFill>
                  <a:srgbClr val="ED1C24"/>
                </a:solidFill>
                <a:latin typeface="Arial"/>
              </a:rPr>
              <a:t>▪  </a:t>
            </a:r>
            <a:r>
              <a:rPr sz="1400" b="0">
                <a:solidFill>
                  <a:srgbClr val="1D0F1E"/>
                </a:solidFill>
                <a:latin typeface="Arial"/>
              </a:rPr>
              <a:t>Trộm cắp, cố ý gây thiệt hại tài sản Công ty hoặc người khác</a:t>
            </a:r>
          </a:p>
          <a:p>
            <a:pPr algn="l">
              <a:spcAft>
                <a:spcPts val="500"/>
              </a:spcAft>
            </a:pPr>
            <a:r>
              <a:rPr sz="1400" b="1">
                <a:solidFill>
                  <a:srgbClr val="ED1C24"/>
                </a:solidFill>
                <a:latin typeface="Arial"/>
              </a:rPr>
              <a:t>▪  </a:t>
            </a:r>
            <a:r>
              <a:rPr sz="1400" b="0">
                <a:solidFill>
                  <a:srgbClr val="1D0F1E"/>
                </a:solidFill>
                <a:latin typeface="Arial"/>
              </a:rPr>
              <a:t>Quấy rối tình dục, phân biệt đối xử, cưỡng ép, lăng nhục, đe dọa</a:t>
            </a:r>
          </a:p>
        </p:txBody>
      </p:sp>
      <p:sp>
        <p:nvSpPr>
          <p:cNvPr id="14" name="Rectangle 13"/>
          <p:cNvSpPr/>
          <p:nvPr/>
        </p:nvSpPr>
        <p:spPr>
          <a:xfrm>
            <a:off x="6199632" y="1828800"/>
            <a:ext cx="5532120" cy="4297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1828800"/>
            <a:ext cx="5532120"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2029968"/>
            <a:ext cx="516635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Trách nhiệm</a:t>
            </a:r>
          </a:p>
        </p:txBody>
      </p:sp>
      <p:sp>
        <p:nvSpPr>
          <p:cNvPr id="17" name="TextBox 16"/>
          <p:cNvSpPr txBox="1"/>
          <p:nvPr/>
        </p:nvSpPr>
        <p:spPr>
          <a:xfrm>
            <a:off x="6382512" y="2560320"/>
            <a:ext cx="5166359" cy="3474720"/>
          </a:xfrm>
          <a:prstGeom prst="rect">
            <a:avLst/>
          </a:prstGeom>
          <a:noFill/>
        </p:spPr>
        <p:txBody>
          <a:bodyPr wrap="square" anchor="t" lIns="45720" rIns="45720" tIns="27432" bIns="27432">
            <a:spAutoFit/>
          </a:bodyPr>
          <a:lstStyle/>
          <a:p>
            <a:pPr algn="l">
              <a:spcAft>
                <a:spcPts val="500"/>
              </a:spcAft>
            </a:pPr>
            <a:r>
              <a:rPr sz="1400" b="1">
                <a:solidFill>
                  <a:srgbClr val="ED1C24"/>
                </a:solidFill>
                <a:latin typeface="Arial"/>
              </a:rPr>
              <a:t>▪  </a:t>
            </a:r>
            <a:r>
              <a:rPr sz="1400" b="0">
                <a:solidFill>
                  <a:srgbClr val="1D0F1E"/>
                </a:solidFill>
                <a:latin typeface="Arial"/>
              </a:rPr>
              <a:t>Đi trễ, vắng mặt: báo ngay cho quản lý trực tiếp qua điện thoại</a:t>
            </a:r>
          </a:p>
          <a:p>
            <a:pPr algn="l">
              <a:spcAft>
                <a:spcPts val="500"/>
              </a:spcAft>
            </a:pPr>
            <a:r>
              <a:rPr sz="1400" b="1">
                <a:solidFill>
                  <a:srgbClr val="ED1C24"/>
                </a:solidFill>
                <a:latin typeface="Arial"/>
              </a:rPr>
              <a:t>▪  </a:t>
            </a:r>
            <a:r>
              <a:rPr sz="1400" b="0">
                <a:solidFill>
                  <a:srgbClr val="1D0F1E"/>
                </a:solidFill>
                <a:latin typeface="Arial"/>
              </a:rPr>
              <a:t>Muốn về sớm hoặc ra ngoài vì việc cá nhân: xin phép trước</a:t>
            </a:r>
          </a:p>
          <a:p>
            <a:pPr algn="l">
              <a:spcAft>
                <a:spcPts val="500"/>
              </a:spcAft>
            </a:pPr>
            <a:r>
              <a:rPr sz="1400" b="1">
                <a:solidFill>
                  <a:srgbClr val="ED1C24"/>
                </a:solidFill>
                <a:latin typeface="Arial"/>
              </a:rPr>
              <a:t>▪  </a:t>
            </a:r>
            <a:r>
              <a:rPr sz="1400" b="0">
                <a:solidFill>
                  <a:srgbClr val="1D0F1E"/>
                </a:solidFill>
                <a:latin typeface="Arial"/>
              </a:rPr>
              <a:t>Không mang tài sản, tài liệu Công ty ra ngoài khi chưa được đồng ý</a:t>
            </a:r>
          </a:p>
          <a:p>
            <a:pPr algn="l">
              <a:spcAft>
                <a:spcPts val="500"/>
              </a:spcAft>
            </a:pPr>
            <a:r>
              <a:rPr sz="1400" b="1">
                <a:solidFill>
                  <a:srgbClr val="ED1C24"/>
                </a:solidFill>
                <a:latin typeface="Arial"/>
              </a:rPr>
              <a:t>▪  </a:t>
            </a:r>
            <a:r>
              <a:rPr sz="1400" b="0">
                <a:solidFill>
                  <a:srgbClr val="1D0F1E"/>
                </a:solidFill>
                <a:latin typeface="Arial"/>
              </a:rPr>
              <a:t>Giữ bí mật thông tin khách hàng, nhà cung cấp</a:t>
            </a:r>
          </a:p>
          <a:p>
            <a:pPr algn="l">
              <a:spcAft>
                <a:spcPts val="500"/>
              </a:spcAft>
            </a:pPr>
            <a:r>
              <a:rPr sz="1400" b="1">
                <a:solidFill>
                  <a:srgbClr val="ED1C24"/>
                </a:solidFill>
                <a:latin typeface="Arial"/>
              </a:rPr>
              <a:t>▪  </a:t>
            </a:r>
            <a:r>
              <a:rPr sz="1400" b="0">
                <a:solidFill>
                  <a:srgbClr val="1D0F1E"/>
                </a:solidFill>
                <a:latin typeface="Arial"/>
              </a:rPr>
              <a:t>Báo cáo nguy cơ tai nạn lao động; có quyền từ chối làm việc khi nguy hiểm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HÌNH THỨC XỬ LÝ KỶ LUẬT LAO ĐỘNG</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10</a:t>
            </a:r>
          </a:p>
        </p:txBody>
      </p:sp>
      <p:sp>
        <p:nvSpPr>
          <p:cNvPr id="10" name="Rectangle 9"/>
          <p:cNvSpPr/>
          <p:nvPr/>
        </p:nvSpPr>
        <p:spPr>
          <a:xfrm>
            <a:off x="457200" y="1828800"/>
            <a:ext cx="3931920" cy="914400"/>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828800"/>
            <a:ext cx="3611880" cy="914400"/>
          </a:xfrm>
          <a:prstGeom prst="rect">
            <a:avLst/>
          </a:prstGeom>
          <a:noFill/>
        </p:spPr>
        <p:txBody>
          <a:bodyPr wrap="square" anchor="ctr" lIns="45720" rIns="45720" tIns="27432" bIns="27432">
            <a:spAutoFit/>
          </a:bodyPr>
          <a:lstStyle/>
          <a:p>
            <a:pPr algn="l">
              <a:spcAft>
                <a:spcPts val="600"/>
              </a:spcAft>
            </a:pPr>
            <a:r>
              <a:rPr sz="1500" b="1">
                <a:solidFill>
                  <a:srgbClr val="1D0F1E"/>
                </a:solidFill>
                <a:latin typeface="Arial"/>
              </a:rPr>
              <a:t>Khiển trách bằng văn bản</a:t>
            </a:r>
          </a:p>
        </p:txBody>
      </p:sp>
      <p:sp>
        <p:nvSpPr>
          <p:cNvPr id="12" name="Rectangle 11"/>
          <p:cNvSpPr/>
          <p:nvPr/>
        </p:nvSpPr>
        <p:spPr>
          <a:xfrm>
            <a:off x="4389120" y="1828800"/>
            <a:ext cx="7315200" cy="914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72000" y="1828800"/>
            <a:ext cx="6949440" cy="914400"/>
          </a:xfrm>
          <a:prstGeom prst="rect">
            <a:avLst/>
          </a:prstGeom>
          <a:noFill/>
        </p:spPr>
        <p:txBody>
          <a:bodyPr wrap="square" anchor="ctr" lIns="45720" rIns="45720" tIns="27432" bIns="27432">
            <a:spAutoFit/>
          </a:bodyPr>
          <a:lstStyle/>
          <a:p>
            <a:pPr algn="l">
              <a:spcAft>
                <a:spcPts val="600"/>
              </a:spcAft>
            </a:pPr>
            <a:r>
              <a:rPr sz="1300" b="0">
                <a:solidFill>
                  <a:srgbClr val="1D0F1E"/>
                </a:solidFill>
                <a:latin typeface="Arial"/>
              </a:rPr>
              <a:t>Vi phạm lần đầu, không gây hậu quả nghiêm trọng (dưới 5.000.000 đồng)</a:t>
            </a:r>
          </a:p>
        </p:txBody>
      </p:sp>
      <p:sp>
        <p:nvSpPr>
          <p:cNvPr id="14" name="Rectangle 13"/>
          <p:cNvSpPr/>
          <p:nvPr/>
        </p:nvSpPr>
        <p:spPr>
          <a:xfrm>
            <a:off x="457200" y="2852928"/>
            <a:ext cx="3931920" cy="914400"/>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852928"/>
            <a:ext cx="3611880" cy="914400"/>
          </a:xfrm>
          <a:prstGeom prst="rect">
            <a:avLst/>
          </a:prstGeom>
          <a:noFill/>
        </p:spPr>
        <p:txBody>
          <a:bodyPr wrap="square" anchor="ctr" lIns="45720" rIns="45720" tIns="27432" bIns="27432">
            <a:spAutoFit/>
          </a:bodyPr>
          <a:lstStyle/>
          <a:p>
            <a:pPr algn="l">
              <a:spcAft>
                <a:spcPts val="600"/>
              </a:spcAft>
            </a:pPr>
            <a:r>
              <a:rPr sz="1500" b="1">
                <a:solidFill>
                  <a:srgbClr val="FFFFFF"/>
                </a:solidFill>
                <a:latin typeface="Arial"/>
              </a:rPr>
              <a:t>Kéo dài thời hạn nâng lương (tối đa 6 tháng)</a:t>
            </a:r>
          </a:p>
        </p:txBody>
      </p:sp>
      <p:sp>
        <p:nvSpPr>
          <p:cNvPr id="16" name="Rectangle 15"/>
          <p:cNvSpPr/>
          <p:nvPr/>
        </p:nvSpPr>
        <p:spPr>
          <a:xfrm>
            <a:off x="4389120" y="2852928"/>
            <a:ext cx="7315200" cy="914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72000" y="2852928"/>
            <a:ext cx="6949440" cy="914400"/>
          </a:xfrm>
          <a:prstGeom prst="rect">
            <a:avLst/>
          </a:prstGeom>
          <a:noFill/>
        </p:spPr>
        <p:txBody>
          <a:bodyPr wrap="square" anchor="ctr" lIns="45720" rIns="45720" tIns="27432" bIns="27432">
            <a:spAutoFit/>
          </a:bodyPr>
          <a:lstStyle/>
          <a:p>
            <a:pPr algn="l">
              <a:spcAft>
                <a:spcPts val="600"/>
              </a:spcAft>
            </a:pPr>
            <a:r>
              <a:rPr sz="1300" b="0">
                <a:solidFill>
                  <a:srgbClr val="1D0F1E"/>
                </a:solidFill>
                <a:latin typeface="Arial"/>
              </a:rPr>
              <a:t>Tái vi phạm trong 1 tháng sau khiển trách; thái độ khiếm nhã với khách hàng, cấp trên, đồng nghiệp; không tuân thủ an toàn, vệ sinh lao động</a:t>
            </a:r>
          </a:p>
        </p:txBody>
      </p:sp>
      <p:sp>
        <p:nvSpPr>
          <p:cNvPr id="18" name="Rectangle 17"/>
          <p:cNvSpPr/>
          <p:nvPr/>
        </p:nvSpPr>
        <p:spPr>
          <a:xfrm>
            <a:off x="457200" y="3877056"/>
            <a:ext cx="3931920" cy="914400"/>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877056"/>
            <a:ext cx="3611880" cy="914400"/>
          </a:xfrm>
          <a:prstGeom prst="rect">
            <a:avLst/>
          </a:prstGeom>
          <a:noFill/>
        </p:spPr>
        <p:txBody>
          <a:bodyPr wrap="square" anchor="ctr" lIns="45720" rIns="45720" tIns="27432" bIns="27432">
            <a:spAutoFit/>
          </a:bodyPr>
          <a:lstStyle/>
          <a:p>
            <a:pPr algn="l">
              <a:spcAft>
                <a:spcPts val="600"/>
              </a:spcAft>
            </a:pPr>
            <a:r>
              <a:rPr sz="1500" b="1">
                <a:solidFill>
                  <a:srgbClr val="FFFFFF"/>
                </a:solidFill>
                <a:latin typeface="Arial"/>
              </a:rPr>
              <a:t>Cách chức</a:t>
            </a:r>
          </a:p>
        </p:txBody>
      </p:sp>
      <p:sp>
        <p:nvSpPr>
          <p:cNvPr id="20" name="Rectangle 19"/>
          <p:cNvSpPr/>
          <p:nvPr/>
        </p:nvSpPr>
        <p:spPr>
          <a:xfrm>
            <a:off x="4389120" y="3877056"/>
            <a:ext cx="7315200" cy="914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0" y="3877056"/>
            <a:ext cx="6949440" cy="914400"/>
          </a:xfrm>
          <a:prstGeom prst="rect">
            <a:avLst/>
          </a:prstGeom>
          <a:noFill/>
        </p:spPr>
        <p:txBody>
          <a:bodyPr wrap="square" anchor="ctr" lIns="45720" rIns="45720" tIns="27432" bIns="27432">
            <a:spAutoFit/>
          </a:bodyPr>
          <a:lstStyle/>
          <a:p>
            <a:pPr algn="l">
              <a:spcAft>
                <a:spcPts val="600"/>
              </a:spcAft>
            </a:pPr>
            <a:r>
              <a:rPr sz="1300" b="0">
                <a:solidFill>
                  <a:srgbClr val="1D0F1E"/>
                </a:solidFill>
                <a:latin typeface="Arial"/>
              </a:rPr>
              <a:t>Dùng danh nghĩa Công ty cho việc riêng; cản trở giao dịch với khách hàng; giả mạo giấy tờ; lừa đảo khi thực hiện công việc</a:t>
            </a:r>
          </a:p>
        </p:txBody>
      </p:sp>
      <p:sp>
        <p:nvSpPr>
          <p:cNvPr id="22" name="Rectangle 21"/>
          <p:cNvSpPr/>
          <p:nvPr/>
        </p:nvSpPr>
        <p:spPr>
          <a:xfrm>
            <a:off x="457200" y="4901184"/>
            <a:ext cx="3931920" cy="914400"/>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901184"/>
            <a:ext cx="3611880" cy="914400"/>
          </a:xfrm>
          <a:prstGeom prst="rect">
            <a:avLst/>
          </a:prstGeom>
          <a:noFill/>
        </p:spPr>
        <p:txBody>
          <a:bodyPr wrap="square" anchor="ctr" lIns="45720" rIns="45720" tIns="27432" bIns="27432">
            <a:spAutoFit/>
          </a:bodyPr>
          <a:lstStyle/>
          <a:p>
            <a:pPr algn="l">
              <a:spcAft>
                <a:spcPts val="600"/>
              </a:spcAft>
            </a:pPr>
            <a:r>
              <a:rPr sz="1500" b="1">
                <a:solidFill>
                  <a:srgbClr val="FFFFFF"/>
                </a:solidFill>
                <a:latin typeface="Arial"/>
              </a:rPr>
              <a:t>Sa thải</a:t>
            </a:r>
          </a:p>
        </p:txBody>
      </p:sp>
      <p:sp>
        <p:nvSpPr>
          <p:cNvPr id="24" name="Rectangle 23"/>
          <p:cNvSpPr/>
          <p:nvPr/>
        </p:nvSpPr>
        <p:spPr>
          <a:xfrm>
            <a:off x="4389120" y="4901184"/>
            <a:ext cx="7315200" cy="914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0" y="4901184"/>
            <a:ext cx="6949440" cy="914400"/>
          </a:xfrm>
          <a:prstGeom prst="rect">
            <a:avLst/>
          </a:prstGeom>
          <a:noFill/>
        </p:spPr>
        <p:txBody>
          <a:bodyPr wrap="square" anchor="ctr" lIns="45720" rIns="45720" tIns="27432" bIns="27432">
            <a:spAutoFit/>
          </a:bodyPr>
          <a:lstStyle/>
          <a:p>
            <a:pPr algn="l">
              <a:spcAft>
                <a:spcPts val="600"/>
              </a:spcAft>
            </a:pPr>
            <a:r>
              <a:rPr sz="1300" b="0">
                <a:solidFill>
                  <a:srgbClr val="1D0F1E"/>
                </a:solidFill>
                <a:latin typeface="Arial"/>
              </a:rPr>
              <a:t>Trộm cắp, tham ô, đánh bạc, cố ý gây thương tích, ma túy; tiết lộ bí mật kinh doanh; quấy rối tình dục; tự ý bỏ việc 5 ngày trong 30 ngày hoặc 20 ngày trong 365 ngày</a:t>
            </a:r>
          </a:p>
        </p:txBody>
      </p:sp>
      <p:sp>
        <p:nvSpPr>
          <p:cNvPr id="26" name="Rectangle 25"/>
          <p:cNvSpPr/>
          <p:nvPr/>
        </p:nvSpPr>
        <p:spPr>
          <a:xfrm>
            <a:off x="457200" y="5943600"/>
            <a:ext cx="11247120" cy="384048"/>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943600"/>
            <a:ext cx="10789920" cy="384048"/>
          </a:xfrm>
          <a:prstGeom prst="rect">
            <a:avLst/>
          </a:prstGeom>
          <a:noFill/>
        </p:spPr>
        <p:txBody>
          <a:bodyPr wrap="square" anchor="ctr" lIns="45720" rIns="45720" tIns="27432" bIns="27432">
            <a:spAutoFit/>
          </a:bodyPr>
          <a:lstStyle/>
          <a:p>
            <a:pPr algn="l">
              <a:spcAft>
                <a:spcPts val="600"/>
              </a:spcAft>
            </a:pPr>
            <a:r>
              <a:rPr sz="1200" b="1">
                <a:solidFill>
                  <a:srgbClr val="1D0F1E"/>
                </a:solidFill>
                <a:latin typeface="Arial"/>
              </a:rPr>
              <a:t>Không áp dụng nhiều hình thức kỷ luật cho một hành vi; không phạt tiền hay cắt lương thay cho kỷ luật.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QUY TRÌNH XỬ LÝ, THỜI HIỆU &amp; BỒI THƯỜNG</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11</a:t>
            </a:r>
          </a:p>
        </p:txBody>
      </p:sp>
      <p:sp>
        <p:nvSpPr>
          <p:cNvPr id="10" name="Pentagon 9"/>
          <p:cNvSpPr/>
          <p:nvPr/>
        </p:nvSpPr>
        <p:spPr>
          <a:xfrm>
            <a:off x="457200" y="1828800"/>
            <a:ext cx="2103120" cy="2377440"/>
          </a:xfrm>
          <a:prstGeom prst="homePlate">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1920240"/>
            <a:ext cx="1737360" cy="457200"/>
          </a:xfrm>
          <a:prstGeom prst="rect">
            <a:avLst/>
          </a:prstGeom>
          <a:noFill/>
        </p:spPr>
        <p:txBody>
          <a:bodyPr wrap="square" anchor="t" lIns="45720" rIns="45720" tIns="27432" bIns="27432">
            <a:spAutoFit/>
          </a:bodyPr>
          <a:lstStyle/>
          <a:p>
            <a:pPr algn="l">
              <a:spcAft>
                <a:spcPts val="600"/>
              </a:spcAft>
            </a:pPr>
            <a:r>
              <a:rPr sz="2600" b="1">
                <a:solidFill>
                  <a:srgbClr val="FFFFFF"/>
                </a:solidFill>
                <a:latin typeface="Arial"/>
              </a:rPr>
              <a:t>1</a:t>
            </a:r>
          </a:p>
        </p:txBody>
      </p:sp>
      <p:sp>
        <p:nvSpPr>
          <p:cNvPr id="12" name="TextBox 11"/>
          <p:cNvSpPr txBox="1"/>
          <p:nvPr/>
        </p:nvSpPr>
        <p:spPr>
          <a:xfrm>
            <a:off x="594360" y="2560320"/>
            <a:ext cx="1737360" cy="1554480"/>
          </a:xfrm>
          <a:prstGeom prst="rect">
            <a:avLst/>
          </a:prstGeom>
          <a:noFill/>
        </p:spPr>
        <p:txBody>
          <a:bodyPr wrap="square" anchor="t" lIns="45720" rIns="45720" tIns="27432" bIns="27432">
            <a:spAutoFit/>
          </a:bodyPr>
          <a:lstStyle/>
          <a:p>
            <a:pPr algn="l">
              <a:spcAft>
                <a:spcPts val="600"/>
              </a:spcAft>
            </a:pPr>
            <a:r>
              <a:rPr sz="1200" b="1">
                <a:solidFill>
                  <a:srgbClr val="FFFFFF"/>
                </a:solidFill>
                <a:latin typeface="Arial"/>
              </a:rPr>
              <a:t>Lập biên bản vi phạm; người quản lý phải chứng minh lỗi</a:t>
            </a:r>
          </a:p>
        </p:txBody>
      </p:sp>
      <p:sp>
        <p:nvSpPr>
          <p:cNvPr id="13" name="Pentagon 12"/>
          <p:cNvSpPr/>
          <p:nvPr/>
        </p:nvSpPr>
        <p:spPr>
          <a:xfrm>
            <a:off x="2724912" y="1828800"/>
            <a:ext cx="2103120" cy="2377440"/>
          </a:xfrm>
          <a:prstGeom prst="homePlate">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62072" y="1920240"/>
            <a:ext cx="1737360" cy="457200"/>
          </a:xfrm>
          <a:prstGeom prst="rect">
            <a:avLst/>
          </a:prstGeom>
          <a:noFill/>
        </p:spPr>
        <p:txBody>
          <a:bodyPr wrap="square" anchor="t" lIns="45720" rIns="45720" tIns="27432" bIns="27432">
            <a:spAutoFit/>
          </a:bodyPr>
          <a:lstStyle/>
          <a:p>
            <a:pPr algn="l">
              <a:spcAft>
                <a:spcPts val="600"/>
              </a:spcAft>
            </a:pPr>
            <a:r>
              <a:rPr sz="2600" b="1">
                <a:solidFill>
                  <a:srgbClr val="1D0F1E"/>
                </a:solidFill>
                <a:latin typeface="Arial"/>
              </a:rPr>
              <a:t>2</a:t>
            </a:r>
          </a:p>
        </p:txBody>
      </p:sp>
      <p:sp>
        <p:nvSpPr>
          <p:cNvPr id="15" name="TextBox 14"/>
          <p:cNvSpPr txBox="1"/>
          <p:nvPr/>
        </p:nvSpPr>
        <p:spPr>
          <a:xfrm>
            <a:off x="2862072" y="2560320"/>
            <a:ext cx="1737360" cy="1554480"/>
          </a:xfrm>
          <a:prstGeom prst="rect">
            <a:avLst/>
          </a:prstGeom>
          <a:noFill/>
        </p:spPr>
        <p:txBody>
          <a:bodyPr wrap="square" anchor="t" lIns="45720" rIns="45720" tIns="27432" bIns="27432">
            <a:spAutoFit/>
          </a:bodyPr>
          <a:lstStyle/>
          <a:p>
            <a:pPr algn="l">
              <a:spcAft>
                <a:spcPts val="600"/>
              </a:spcAft>
            </a:pPr>
            <a:r>
              <a:rPr sz="1200" b="1">
                <a:solidFill>
                  <a:srgbClr val="1D0F1E"/>
                </a:solidFill>
                <a:latin typeface="Arial"/>
              </a:rPr>
              <a:t>Thông báo họp xử lý; có đại diện Công đoàn Công ty</a:t>
            </a:r>
          </a:p>
        </p:txBody>
      </p:sp>
      <p:sp>
        <p:nvSpPr>
          <p:cNvPr id="16" name="Pentagon 15"/>
          <p:cNvSpPr/>
          <p:nvPr/>
        </p:nvSpPr>
        <p:spPr>
          <a:xfrm>
            <a:off x="4992624" y="1828800"/>
            <a:ext cx="2103120" cy="2377440"/>
          </a:xfrm>
          <a:prstGeom prst="homePlate">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9784" y="1920240"/>
            <a:ext cx="1737360" cy="457200"/>
          </a:xfrm>
          <a:prstGeom prst="rect">
            <a:avLst/>
          </a:prstGeom>
          <a:noFill/>
        </p:spPr>
        <p:txBody>
          <a:bodyPr wrap="square" anchor="t" lIns="45720" rIns="45720" tIns="27432" bIns="27432">
            <a:spAutoFit/>
          </a:bodyPr>
          <a:lstStyle/>
          <a:p>
            <a:pPr algn="l">
              <a:spcAft>
                <a:spcPts val="600"/>
              </a:spcAft>
            </a:pPr>
            <a:r>
              <a:rPr sz="2600" b="1">
                <a:solidFill>
                  <a:srgbClr val="FFFFFF"/>
                </a:solidFill>
                <a:latin typeface="Arial"/>
              </a:rPr>
              <a:t>3</a:t>
            </a:r>
          </a:p>
        </p:txBody>
      </p:sp>
      <p:sp>
        <p:nvSpPr>
          <p:cNvPr id="18" name="TextBox 17"/>
          <p:cNvSpPr txBox="1"/>
          <p:nvPr/>
        </p:nvSpPr>
        <p:spPr>
          <a:xfrm>
            <a:off x="5129784" y="2560320"/>
            <a:ext cx="1737360" cy="1554480"/>
          </a:xfrm>
          <a:prstGeom prst="rect">
            <a:avLst/>
          </a:prstGeom>
          <a:noFill/>
        </p:spPr>
        <p:txBody>
          <a:bodyPr wrap="square" anchor="t" lIns="45720" rIns="45720" tIns="27432" bIns="27432">
            <a:spAutoFit/>
          </a:bodyPr>
          <a:lstStyle/>
          <a:p>
            <a:pPr algn="l">
              <a:spcAft>
                <a:spcPts val="600"/>
              </a:spcAft>
            </a:pPr>
            <a:r>
              <a:rPr sz="1200" b="1">
                <a:solidFill>
                  <a:srgbClr val="FFFFFF"/>
                </a:solidFill>
                <a:latin typeface="Arial"/>
              </a:rPr>
              <a:t>Người lao động có mặt, được tự bào chữa hoặc nhờ luật sư</a:t>
            </a:r>
          </a:p>
        </p:txBody>
      </p:sp>
      <p:sp>
        <p:nvSpPr>
          <p:cNvPr id="19" name="Pentagon 18"/>
          <p:cNvSpPr/>
          <p:nvPr/>
        </p:nvSpPr>
        <p:spPr>
          <a:xfrm>
            <a:off x="7260336" y="1828800"/>
            <a:ext cx="2103120" cy="2377440"/>
          </a:xfrm>
          <a:prstGeom prst="homePlate">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97496" y="1920240"/>
            <a:ext cx="1737360" cy="457200"/>
          </a:xfrm>
          <a:prstGeom prst="rect">
            <a:avLst/>
          </a:prstGeom>
          <a:noFill/>
        </p:spPr>
        <p:txBody>
          <a:bodyPr wrap="square" anchor="t" lIns="45720" rIns="45720" tIns="27432" bIns="27432">
            <a:spAutoFit/>
          </a:bodyPr>
          <a:lstStyle/>
          <a:p>
            <a:pPr algn="l">
              <a:spcAft>
                <a:spcPts val="600"/>
              </a:spcAft>
            </a:pPr>
            <a:r>
              <a:rPr sz="2600" b="1">
                <a:solidFill>
                  <a:srgbClr val="FFFFFF"/>
                </a:solidFill>
                <a:latin typeface="Arial"/>
              </a:rPr>
              <a:t>4</a:t>
            </a:r>
          </a:p>
        </p:txBody>
      </p:sp>
      <p:sp>
        <p:nvSpPr>
          <p:cNvPr id="21" name="TextBox 20"/>
          <p:cNvSpPr txBox="1"/>
          <p:nvPr/>
        </p:nvSpPr>
        <p:spPr>
          <a:xfrm>
            <a:off x="7397496" y="2560320"/>
            <a:ext cx="1737360" cy="1554480"/>
          </a:xfrm>
          <a:prstGeom prst="rect">
            <a:avLst/>
          </a:prstGeom>
          <a:noFill/>
        </p:spPr>
        <p:txBody>
          <a:bodyPr wrap="square" anchor="t" lIns="45720" rIns="45720" tIns="27432" bIns="27432">
            <a:spAutoFit/>
          </a:bodyPr>
          <a:lstStyle/>
          <a:p>
            <a:pPr algn="l">
              <a:spcAft>
                <a:spcPts val="600"/>
              </a:spcAft>
            </a:pPr>
            <a:r>
              <a:rPr sz="1200" b="1">
                <a:solidFill>
                  <a:srgbClr val="FFFFFF"/>
                </a:solidFill>
                <a:latin typeface="Arial"/>
              </a:rPr>
              <a:t>Lập biên bản cuộc họp; thành viên tham dự ký xác nhận</a:t>
            </a:r>
          </a:p>
        </p:txBody>
      </p:sp>
      <p:sp>
        <p:nvSpPr>
          <p:cNvPr id="22" name="Rectangle 21"/>
          <p:cNvSpPr/>
          <p:nvPr/>
        </p:nvSpPr>
        <p:spPr>
          <a:xfrm>
            <a:off x="9528048" y="1828800"/>
            <a:ext cx="2103120" cy="2377440"/>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65208" y="1920240"/>
            <a:ext cx="1737360" cy="457200"/>
          </a:xfrm>
          <a:prstGeom prst="rect">
            <a:avLst/>
          </a:prstGeom>
          <a:noFill/>
        </p:spPr>
        <p:txBody>
          <a:bodyPr wrap="square" anchor="t" lIns="45720" rIns="45720" tIns="27432" bIns="27432">
            <a:spAutoFit/>
          </a:bodyPr>
          <a:lstStyle/>
          <a:p>
            <a:pPr algn="l">
              <a:spcAft>
                <a:spcPts val="600"/>
              </a:spcAft>
            </a:pPr>
            <a:r>
              <a:rPr sz="2600" b="1">
                <a:solidFill>
                  <a:srgbClr val="1D0F1E"/>
                </a:solidFill>
                <a:latin typeface="Arial"/>
              </a:rPr>
              <a:t>5</a:t>
            </a:r>
          </a:p>
        </p:txBody>
      </p:sp>
      <p:sp>
        <p:nvSpPr>
          <p:cNvPr id="24" name="TextBox 23"/>
          <p:cNvSpPr txBox="1"/>
          <p:nvPr/>
        </p:nvSpPr>
        <p:spPr>
          <a:xfrm>
            <a:off x="9665208" y="2560320"/>
            <a:ext cx="1737360" cy="1554480"/>
          </a:xfrm>
          <a:prstGeom prst="rect">
            <a:avLst/>
          </a:prstGeom>
          <a:noFill/>
        </p:spPr>
        <p:txBody>
          <a:bodyPr wrap="square" anchor="t" lIns="45720" rIns="45720" tIns="27432" bIns="27432">
            <a:spAutoFit/>
          </a:bodyPr>
          <a:lstStyle/>
          <a:p>
            <a:pPr algn="l">
              <a:spcAft>
                <a:spcPts val="600"/>
              </a:spcAft>
            </a:pPr>
            <a:r>
              <a:rPr sz="1200" b="1">
                <a:solidFill>
                  <a:srgbClr val="1D0F1E"/>
                </a:solidFill>
                <a:latin typeface="Arial"/>
              </a:rPr>
              <a:t>Ra quyết định (Tổng giám đốc hoặc người được ủy quyền)</a:t>
            </a:r>
          </a:p>
        </p:txBody>
      </p:sp>
      <p:sp>
        <p:nvSpPr>
          <p:cNvPr id="25" name="Rectangle 24"/>
          <p:cNvSpPr/>
          <p:nvPr/>
        </p:nvSpPr>
        <p:spPr>
          <a:xfrm>
            <a:off x="457200" y="4480560"/>
            <a:ext cx="5532120" cy="17373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4480560"/>
            <a:ext cx="553212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681728"/>
            <a:ext cx="516635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Thời hiệu &amp; xóa kỷ luật</a:t>
            </a:r>
          </a:p>
        </p:txBody>
      </p:sp>
      <p:sp>
        <p:nvSpPr>
          <p:cNvPr id="28" name="TextBox 27"/>
          <p:cNvSpPr txBox="1"/>
          <p:nvPr/>
        </p:nvSpPr>
        <p:spPr>
          <a:xfrm>
            <a:off x="640080" y="5212080"/>
            <a:ext cx="5166359" cy="914399"/>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Thời hiệu 6 tháng; 12 tháng nếu liên quan tài chính, tài sản, bí mật</a:t>
            </a:r>
          </a:p>
          <a:p>
            <a:pPr algn="l">
              <a:spcAft>
                <a:spcPts val="500"/>
              </a:spcAft>
            </a:pPr>
            <a:r>
              <a:rPr sz="1300" b="1">
                <a:solidFill>
                  <a:srgbClr val="ED1C24"/>
                </a:solidFill>
                <a:latin typeface="Arial"/>
              </a:rPr>
              <a:t>▪  </a:t>
            </a:r>
            <a:r>
              <a:rPr sz="1300" b="0">
                <a:solidFill>
                  <a:srgbClr val="1D0F1E"/>
                </a:solidFill>
                <a:latin typeface="Arial"/>
              </a:rPr>
              <a:t>Xóa kỷ luật: khiển trách sau 3 tháng; kéo dài nâng lương sau 6 tháng; cách chức sau 3 năm</a:t>
            </a:r>
          </a:p>
        </p:txBody>
      </p:sp>
      <p:sp>
        <p:nvSpPr>
          <p:cNvPr id="29" name="Rectangle 28"/>
          <p:cNvSpPr/>
          <p:nvPr/>
        </p:nvSpPr>
        <p:spPr>
          <a:xfrm>
            <a:off x="6199632" y="4480560"/>
            <a:ext cx="5532120" cy="17373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9632" y="4480560"/>
            <a:ext cx="5532120"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4681728"/>
            <a:ext cx="516635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Bồi thường &amp; không xử lý trong các trường hợp</a:t>
            </a:r>
          </a:p>
        </p:txBody>
      </p:sp>
      <p:sp>
        <p:nvSpPr>
          <p:cNvPr id="32" name="TextBox 31"/>
          <p:cNvSpPr txBox="1"/>
          <p:nvPr/>
        </p:nvSpPr>
        <p:spPr>
          <a:xfrm>
            <a:off x="6382512" y="5212080"/>
            <a:ext cx="5166359" cy="914399"/>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Sơ suất không nghiêm trọng: bồi thường tối đa 3 tháng lương, khấu trừ hàng tháng</a:t>
            </a:r>
          </a:p>
          <a:p>
            <a:pPr algn="l">
              <a:spcAft>
                <a:spcPts val="500"/>
              </a:spcAft>
            </a:pPr>
            <a:r>
              <a:rPr sz="1300" b="1">
                <a:solidFill>
                  <a:srgbClr val="ED1C24"/>
                </a:solidFill>
                <a:latin typeface="Arial"/>
              </a:rPr>
              <a:t>▪  </a:t>
            </a:r>
            <a:r>
              <a:rPr sz="1300" b="0">
                <a:solidFill>
                  <a:srgbClr val="1D0F1E"/>
                </a:solidFill>
                <a:latin typeface="Arial"/>
              </a:rPr>
              <a:t>Không kỷ luật khi đang nghỉ ốm, thai sản, mang thai, nuôi con dưới 12 tháng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7955279" y="0"/>
            <a:ext cx="3840481" cy="6858000"/>
          </a:xfrm>
          <a:custGeom>
            <a:avLst/>
            <a:gdLst/>
            <a:ahLst/>
            <a:cxnLst/>
            <a:rect l="l" t="t" r="r" b="b"/>
            <a:pathLst>
              <a:path w="3840481" h="6858000">
                <a:moveTo>
                  <a:pt x="548641" y="0"/>
                </a:moveTo>
                <a:lnTo>
                  <a:pt x="3840481" y="0"/>
                </a:lnTo>
                <a:lnTo>
                  <a:pt x="1645921" y="6858000"/>
                </a:lnTo>
                <a:lnTo>
                  <a:pt x="0" y="6858000"/>
                </a:lnTo>
                <a:close/>
              </a:path>
            </a:pathLst>
          </a:cu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058400" y="2807208"/>
            <a:ext cx="2133295" cy="4050792"/>
          </a:xfrm>
          <a:custGeom>
            <a:avLst/>
            <a:gdLst/>
            <a:ahLst/>
            <a:cxnLst/>
            <a:rect l="l" t="t" r="r" b="b"/>
            <a:pathLst>
              <a:path w="2133295" h="4050792">
                <a:moveTo>
                  <a:pt x="822960" y="0"/>
                </a:moveTo>
                <a:lnTo>
                  <a:pt x="2133295" y="0"/>
                </a:lnTo>
                <a:lnTo>
                  <a:pt x="2133295" y="4050792"/>
                </a:lnTo>
                <a:lnTo>
                  <a:pt x="0" y="4050792"/>
                </a:lnTo>
                <a:close/>
              </a:path>
            </a:pathLst>
          </a:cu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6" name="Rectangle 5"/>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7" name="Rectangle 6"/>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8" name="TextBox 7"/>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FFFFFF"/>
                </a:solidFill>
                <a:latin typeface="Arial"/>
              </a:rPr>
              <a:t>Education</a:t>
            </a:r>
          </a:p>
          <a:p>
            <a:pPr algn="l">
              <a:spcAft>
                <a:spcPts val="0"/>
              </a:spcAft>
            </a:pPr>
            <a:r>
              <a:rPr sz="1000" b="1">
                <a:solidFill>
                  <a:srgbClr val="FFFFFF"/>
                </a:solidFill>
                <a:latin typeface="Arial"/>
              </a:rPr>
              <a:t>Group</a:t>
            </a:r>
          </a:p>
        </p:txBody>
      </p:sp>
      <p:sp>
        <p:nvSpPr>
          <p:cNvPr id="9" name="TextBox 8"/>
          <p:cNvSpPr txBox="1"/>
          <p:nvPr/>
        </p:nvSpPr>
        <p:spPr>
          <a:xfrm>
            <a:off x="731520" y="2103120"/>
            <a:ext cx="5486400" cy="1280160"/>
          </a:xfrm>
          <a:prstGeom prst="rect">
            <a:avLst/>
          </a:prstGeom>
          <a:noFill/>
        </p:spPr>
        <p:txBody>
          <a:bodyPr wrap="square" anchor="t" lIns="45720" rIns="45720" tIns="27432" bIns="27432">
            <a:spAutoFit/>
          </a:bodyPr>
          <a:lstStyle/>
          <a:p>
            <a:pPr algn="l">
              <a:spcAft>
                <a:spcPts val="600"/>
              </a:spcAft>
            </a:pPr>
            <a:r>
              <a:rPr sz="7200" b="1">
                <a:solidFill>
                  <a:srgbClr val="FDC01B"/>
                </a:solidFill>
                <a:latin typeface="Arial"/>
              </a:rPr>
              <a:t>03</a:t>
            </a:r>
          </a:p>
        </p:txBody>
      </p:sp>
      <p:sp>
        <p:nvSpPr>
          <p:cNvPr id="10" name="TextBox 9"/>
          <p:cNvSpPr txBox="1"/>
          <p:nvPr/>
        </p:nvSpPr>
        <p:spPr>
          <a:xfrm>
            <a:off x="731520" y="3383280"/>
            <a:ext cx="7315200" cy="1463040"/>
          </a:xfrm>
          <a:prstGeom prst="rect">
            <a:avLst/>
          </a:prstGeom>
          <a:noFill/>
        </p:spPr>
        <p:txBody>
          <a:bodyPr wrap="square" anchor="t" lIns="45720" rIns="45720" tIns="27432" bIns="27432">
            <a:spAutoFit/>
          </a:bodyPr>
          <a:lstStyle/>
          <a:p>
            <a:pPr algn="l">
              <a:spcAft>
                <a:spcPts val="600"/>
              </a:spcAft>
            </a:pPr>
            <a:r>
              <a:rPr sz="3600" b="1">
                <a:solidFill>
                  <a:srgbClr val="FFFFFF"/>
                </a:solidFill>
                <a:latin typeface="Arial"/>
              </a:rPr>
              <a:t>QUY TẮC ỨNG XỬ &amp; ĐẠO ĐỨC NGHỀ NGHIỆP</a:t>
            </a:r>
          </a:p>
        </p:txBody>
      </p:sp>
      <p:sp>
        <p:nvSpPr>
          <p:cNvPr id="11" name="Rectangle 10"/>
          <p:cNvSpPr/>
          <p:nvPr/>
        </p:nvSpPr>
        <p:spPr>
          <a:xfrm>
            <a:off x="777240" y="484632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029200"/>
            <a:ext cx="7315200" cy="548640"/>
          </a:xfrm>
          <a:prstGeom prst="rect">
            <a:avLst/>
          </a:prstGeom>
          <a:noFill/>
        </p:spPr>
        <p:txBody>
          <a:bodyPr wrap="square" anchor="t" lIns="45720" rIns="45720" tIns="27432" bIns="27432">
            <a:spAutoFit/>
          </a:bodyPr>
          <a:lstStyle/>
          <a:p>
            <a:pPr algn="l">
              <a:spcAft>
                <a:spcPts val="600"/>
              </a:spcAft>
            </a:pPr>
            <a:r>
              <a:rPr sz="1600" b="0">
                <a:solidFill>
                  <a:srgbClr val="FFFFFF"/>
                </a:solidFill>
                <a:latin typeface="Arial"/>
              </a:rPr>
              <a:t>Quy định VP-HCNS-QĐ-02 – Dự thảo, chưa ban hành</a:t>
            </a:r>
          </a:p>
        </p:txBody>
      </p:sp>
      <p:sp>
        <p:nvSpPr>
          <p:cNvPr id="13" name="TextBox 12"/>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FFFFFF"/>
                </a:solidFill>
                <a:latin typeface="Arial"/>
              </a:rPr>
              <a:t>BLA Education Group  |  Đào tạo nội bộ – Khối HCNS</a:t>
            </a:r>
          </a:p>
        </p:txBody>
      </p:sp>
      <p:sp>
        <p:nvSpPr>
          <p:cNvPr id="14" name="TextBox 13"/>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FFFFFF"/>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NGUYÊN TẮC ỨNG XỬ CHUNG</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13</a:t>
            </a:r>
          </a:p>
        </p:txBody>
      </p:sp>
      <p:sp>
        <p:nvSpPr>
          <p:cNvPr id="10" name="Rectangle 9"/>
          <p:cNvSpPr/>
          <p:nvPr/>
        </p:nvSpPr>
        <p:spPr>
          <a:xfrm>
            <a:off x="457200" y="1828800"/>
            <a:ext cx="2103120" cy="31089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210312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1737360" cy="457200"/>
          </a:xfrm>
          <a:prstGeom prst="rect">
            <a:avLst/>
          </a:prstGeom>
          <a:noFill/>
        </p:spPr>
        <p:txBody>
          <a:bodyPr wrap="square" anchor="t" lIns="45720" rIns="45720" tIns="27432" bIns="27432">
            <a:spAutoFit/>
          </a:bodyPr>
          <a:lstStyle/>
          <a:p>
            <a:pPr algn="l">
              <a:spcAft>
                <a:spcPts val="600"/>
              </a:spcAft>
            </a:pPr>
            <a:r>
              <a:rPr sz="1400" b="1">
                <a:solidFill>
                  <a:srgbClr val="1D0F1E"/>
                </a:solidFill>
                <a:latin typeface="Arial"/>
              </a:rPr>
              <a:t>Tôn trọng</a:t>
            </a:r>
          </a:p>
        </p:txBody>
      </p:sp>
      <p:sp>
        <p:nvSpPr>
          <p:cNvPr id="13" name="TextBox 12"/>
          <p:cNvSpPr txBox="1"/>
          <p:nvPr/>
        </p:nvSpPr>
        <p:spPr>
          <a:xfrm>
            <a:off x="640080" y="2560320"/>
            <a:ext cx="1737360" cy="228600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Tôn trọng danh dự, nhân phẩm; không phân biệt đối xử</a:t>
            </a:r>
          </a:p>
        </p:txBody>
      </p:sp>
      <p:sp>
        <p:nvSpPr>
          <p:cNvPr id="14" name="Rectangle 13"/>
          <p:cNvSpPr/>
          <p:nvPr/>
        </p:nvSpPr>
        <p:spPr>
          <a:xfrm>
            <a:off x="2724912" y="1828800"/>
            <a:ext cx="2103120" cy="31089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724912" y="1828800"/>
            <a:ext cx="2103120"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907792" y="2029968"/>
            <a:ext cx="1737360" cy="457200"/>
          </a:xfrm>
          <a:prstGeom prst="rect">
            <a:avLst/>
          </a:prstGeom>
          <a:noFill/>
        </p:spPr>
        <p:txBody>
          <a:bodyPr wrap="square" anchor="t" lIns="45720" rIns="45720" tIns="27432" bIns="27432">
            <a:spAutoFit/>
          </a:bodyPr>
          <a:lstStyle/>
          <a:p>
            <a:pPr algn="l">
              <a:spcAft>
                <a:spcPts val="600"/>
              </a:spcAft>
            </a:pPr>
            <a:r>
              <a:rPr sz="1400" b="1">
                <a:solidFill>
                  <a:srgbClr val="1D0F1E"/>
                </a:solidFill>
                <a:latin typeface="Arial"/>
              </a:rPr>
              <a:t>Trung thực &amp; trách nhiệm</a:t>
            </a:r>
          </a:p>
        </p:txBody>
      </p:sp>
      <p:sp>
        <p:nvSpPr>
          <p:cNvPr id="17" name="TextBox 16"/>
          <p:cNvSpPr txBox="1"/>
          <p:nvPr/>
        </p:nvSpPr>
        <p:spPr>
          <a:xfrm>
            <a:off x="2907792" y="2560320"/>
            <a:ext cx="1737360" cy="228600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Giao tiếp, cung cấp thông tin chính xác; chủ động sửa sai</a:t>
            </a:r>
          </a:p>
        </p:txBody>
      </p:sp>
      <p:sp>
        <p:nvSpPr>
          <p:cNvPr id="18" name="Rectangle 17"/>
          <p:cNvSpPr/>
          <p:nvPr/>
        </p:nvSpPr>
        <p:spPr>
          <a:xfrm>
            <a:off x="4992624" y="1828800"/>
            <a:ext cx="2103120" cy="31089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992624" y="1828800"/>
            <a:ext cx="2103120" cy="73152"/>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75504" y="2029968"/>
            <a:ext cx="1737360" cy="457200"/>
          </a:xfrm>
          <a:prstGeom prst="rect">
            <a:avLst/>
          </a:prstGeom>
          <a:noFill/>
        </p:spPr>
        <p:txBody>
          <a:bodyPr wrap="square" anchor="t" lIns="45720" rIns="45720" tIns="27432" bIns="27432">
            <a:spAutoFit/>
          </a:bodyPr>
          <a:lstStyle/>
          <a:p>
            <a:pPr algn="l">
              <a:spcAft>
                <a:spcPts val="600"/>
              </a:spcAft>
            </a:pPr>
            <a:r>
              <a:rPr sz="1400" b="1">
                <a:solidFill>
                  <a:srgbClr val="1D0F1E"/>
                </a:solidFill>
                <a:latin typeface="Arial"/>
              </a:rPr>
              <a:t>Hợp tác &amp; công bằng</a:t>
            </a:r>
          </a:p>
        </p:txBody>
      </p:sp>
      <p:sp>
        <p:nvSpPr>
          <p:cNvPr id="21" name="TextBox 20"/>
          <p:cNvSpPr txBox="1"/>
          <p:nvPr/>
        </p:nvSpPr>
        <p:spPr>
          <a:xfrm>
            <a:off x="5175504" y="2560320"/>
            <a:ext cx="1737360" cy="228600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Phối hợp xây dựng, khách quan, không gây chia rẽ</a:t>
            </a:r>
          </a:p>
        </p:txBody>
      </p:sp>
      <p:sp>
        <p:nvSpPr>
          <p:cNvPr id="22" name="Rectangle 21"/>
          <p:cNvSpPr/>
          <p:nvPr/>
        </p:nvSpPr>
        <p:spPr>
          <a:xfrm>
            <a:off x="7260336" y="1828800"/>
            <a:ext cx="2103120" cy="31089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60336" y="1828800"/>
            <a:ext cx="210312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443215" y="2029968"/>
            <a:ext cx="1737360" cy="457200"/>
          </a:xfrm>
          <a:prstGeom prst="rect">
            <a:avLst/>
          </a:prstGeom>
          <a:noFill/>
        </p:spPr>
        <p:txBody>
          <a:bodyPr wrap="square" anchor="t" lIns="45720" rIns="45720" tIns="27432" bIns="27432">
            <a:spAutoFit/>
          </a:bodyPr>
          <a:lstStyle/>
          <a:p>
            <a:pPr algn="l">
              <a:spcAft>
                <a:spcPts val="600"/>
              </a:spcAft>
            </a:pPr>
            <a:r>
              <a:rPr sz="1400" b="1">
                <a:solidFill>
                  <a:srgbClr val="1D0F1E"/>
                </a:solidFill>
                <a:latin typeface="Arial"/>
              </a:rPr>
              <a:t>Chuyên nghiệp</a:t>
            </a:r>
          </a:p>
        </p:txBody>
      </p:sp>
      <p:sp>
        <p:nvSpPr>
          <p:cNvPr id="25" name="TextBox 24"/>
          <p:cNvSpPr txBox="1"/>
          <p:nvPr/>
        </p:nvSpPr>
        <p:spPr>
          <a:xfrm>
            <a:off x="7443215" y="2560320"/>
            <a:ext cx="1737360" cy="228600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Bình tĩnh, lịch sự; giải quyết bất đồng bằng đối thoại</a:t>
            </a:r>
          </a:p>
        </p:txBody>
      </p:sp>
      <p:sp>
        <p:nvSpPr>
          <p:cNvPr id="26" name="Rectangle 25"/>
          <p:cNvSpPr/>
          <p:nvPr/>
        </p:nvSpPr>
        <p:spPr>
          <a:xfrm>
            <a:off x="9528048" y="1828800"/>
            <a:ext cx="2103120" cy="31089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528048" y="1828800"/>
            <a:ext cx="2103120"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710928" y="2029968"/>
            <a:ext cx="1737360" cy="457200"/>
          </a:xfrm>
          <a:prstGeom prst="rect">
            <a:avLst/>
          </a:prstGeom>
          <a:noFill/>
        </p:spPr>
        <p:txBody>
          <a:bodyPr wrap="square" anchor="t" lIns="45720" rIns="45720" tIns="27432" bIns="27432">
            <a:spAutoFit/>
          </a:bodyPr>
          <a:lstStyle/>
          <a:p>
            <a:pPr algn="l">
              <a:spcAft>
                <a:spcPts val="600"/>
              </a:spcAft>
            </a:pPr>
            <a:r>
              <a:rPr sz="1400" b="1">
                <a:solidFill>
                  <a:srgbClr val="1D0F1E"/>
                </a:solidFill>
                <a:latin typeface="Arial"/>
              </a:rPr>
              <a:t>Tuân thủ</a:t>
            </a:r>
          </a:p>
        </p:txBody>
      </p:sp>
      <p:sp>
        <p:nvSpPr>
          <p:cNvPr id="29" name="TextBox 28"/>
          <p:cNvSpPr txBox="1"/>
          <p:nvPr/>
        </p:nvSpPr>
        <p:spPr>
          <a:xfrm>
            <a:off x="9710928" y="2560320"/>
            <a:ext cx="1737360" cy="228600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Chấp hành pháp luật, Nội quy, quy chế; bảo vệ tài sản và uy tín BLA</a:t>
            </a:r>
          </a:p>
        </p:txBody>
      </p:sp>
      <p:sp>
        <p:nvSpPr>
          <p:cNvPr id="30" name="Rectangle 29"/>
          <p:cNvSpPr/>
          <p:nvPr/>
        </p:nvSpPr>
        <p:spPr>
          <a:xfrm>
            <a:off x="457200" y="5212080"/>
            <a:ext cx="11247120" cy="914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212080"/>
            <a:ext cx="10789920" cy="914400"/>
          </a:xfrm>
          <a:prstGeom prst="rect">
            <a:avLst/>
          </a:prstGeom>
          <a:noFill/>
        </p:spPr>
        <p:txBody>
          <a:bodyPr wrap="square" anchor="ctr" lIns="45720" rIns="45720" tIns="27432" bIns="27432">
            <a:spAutoFit/>
          </a:bodyPr>
          <a:lstStyle/>
          <a:p>
            <a:pPr algn="l">
              <a:spcAft>
                <a:spcPts val="600"/>
              </a:spcAft>
            </a:pPr>
            <a:r>
              <a:rPr sz="1300" b="1">
                <a:solidFill>
                  <a:srgbClr val="1D0F1E"/>
                </a:solidFill>
                <a:latin typeface="Arial"/>
              </a:rPr>
              <a:t>Áp dụng cho toàn thể CBNV, giáo viên và người quản lý – tại nơi làm việc, cơ sở đào tạo, ký túc xá, các hoạt động Công ty tổ chức và khi giao tiếp trực tiếp hoặc trực tuyến liên quan đến công việc.</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CHUẨN MỰC ỨNG XỬ THEO TỪNG ĐỐI TƯỢNG</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14</a:t>
            </a:r>
          </a:p>
        </p:txBody>
      </p:sp>
      <p:sp>
        <p:nvSpPr>
          <p:cNvPr id="10" name="Rectangle 9"/>
          <p:cNvSpPr/>
          <p:nvPr/>
        </p:nvSpPr>
        <p:spPr>
          <a:xfrm>
            <a:off x="457200" y="1828800"/>
            <a:ext cx="3630168" cy="2057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3630168"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3264408" cy="457200"/>
          </a:xfrm>
          <a:prstGeom prst="rect">
            <a:avLst/>
          </a:prstGeom>
          <a:noFill/>
        </p:spPr>
        <p:txBody>
          <a:bodyPr wrap="square" anchor="t" lIns="45720" rIns="45720" tIns="27432" bIns="27432">
            <a:spAutoFit/>
          </a:bodyPr>
          <a:lstStyle/>
          <a:p>
            <a:pPr algn="l">
              <a:spcAft>
                <a:spcPts val="600"/>
              </a:spcAft>
            </a:pPr>
            <a:r>
              <a:rPr sz="1500" b="1">
                <a:solidFill>
                  <a:srgbClr val="1D0F1E"/>
                </a:solidFill>
                <a:latin typeface="Arial"/>
              </a:rPr>
              <a:t>Với cấp trên</a:t>
            </a:r>
          </a:p>
        </p:txBody>
      </p:sp>
      <p:sp>
        <p:nvSpPr>
          <p:cNvPr id="13" name="TextBox 12"/>
          <p:cNvSpPr txBox="1"/>
          <p:nvPr/>
        </p:nvSpPr>
        <p:spPr>
          <a:xfrm>
            <a:off x="640080" y="2560320"/>
            <a:ext cx="3264408" cy="123444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Chủ động báo cáo tiến độ, khó khăn; không che giấu sai sót</a:t>
            </a:r>
          </a:p>
          <a:p>
            <a:pPr algn="l">
              <a:spcAft>
                <a:spcPts val="500"/>
              </a:spcAft>
            </a:pPr>
            <a:r>
              <a:rPr sz="1300" b="1">
                <a:solidFill>
                  <a:srgbClr val="ED1C24"/>
                </a:solidFill>
                <a:latin typeface="Arial"/>
              </a:rPr>
              <a:t>▪  </a:t>
            </a:r>
            <a:r>
              <a:rPr sz="1300" b="0">
                <a:solidFill>
                  <a:srgbClr val="1D0F1E"/>
                </a:solidFill>
                <a:latin typeface="Arial"/>
              </a:rPr>
              <a:t>Phản biện thẳng thắn, có căn cứ, tôn trọng</a:t>
            </a:r>
          </a:p>
        </p:txBody>
      </p:sp>
      <p:sp>
        <p:nvSpPr>
          <p:cNvPr id="14" name="Rectangle 13"/>
          <p:cNvSpPr/>
          <p:nvPr/>
        </p:nvSpPr>
        <p:spPr>
          <a:xfrm>
            <a:off x="4279392" y="1828800"/>
            <a:ext cx="3630168" cy="2057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79392" y="1828800"/>
            <a:ext cx="3630168"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2272" y="2029968"/>
            <a:ext cx="3264408" cy="457200"/>
          </a:xfrm>
          <a:prstGeom prst="rect">
            <a:avLst/>
          </a:prstGeom>
          <a:noFill/>
        </p:spPr>
        <p:txBody>
          <a:bodyPr wrap="square" anchor="t" lIns="45720" rIns="45720" tIns="27432" bIns="27432">
            <a:spAutoFit/>
          </a:bodyPr>
          <a:lstStyle/>
          <a:p>
            <a:pPr algn="l">
              <a:spcAft>
                <a:spcPts val="600"/>
              </a:spcAft>
            </a:pPr>
            <a:r>
              <a:rPr sz="1500" b="1">
                <a:solidFill>
                  <a:srgbClr val="1D0F1E"/>
                </a:solidFill>
                <a:latin typeface="Arial"/>
              </a:rPr>
              <a:t>Với cấp dưới</a:t>
            </a:r>
          </a:p>
        </p:txBody>
      </p:sp>
      <p:sp>
        <p:nvSpPr>
          <p:cNvPr id="17" name="TextBox 16"/>
          <p:cNvSpPr txBox="1"/>
          <p:nvPr/>
        </p:nvSpPr>
        <p:spPr>
          <a:xfrm>
            <a:off x="4462272" y="2560320"/>
            <a:ext cx="3264408" cy="123444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Giao việc, đánh giá công bằng, minh bạch</a:t>
            </a:r>
          </a:p>
          <a:p>
            <a:pPr algn="l">
              <a:spcAft>
                <a:spcPts val="500"/>
              </a:spcAft>
            </a:pPr>
            <a:r>
              <a:rPr sz="1300" b="1">
                <a:solidFill>
                  <a:srgbClr val="ED1C24"/>
                </a:solidFill>
                <a:latin typeface="Arial"/>
              </a:rPr>
              <a:t>▪  </a:t>
            </a:r>
            <a:r>
              <a:rPr sz="1300" b="0">
                <a:solidFill>
                  <a:srgbClr val="1D0F1E"/>
                </a:solidFill>
                <a:latin typeface="Arial"/>
              </a:rPr>
              <a:t>Không quát mắng, bêu xấu, công kích cá nhân</a:t>
            </a:r>
          </a:p>
        </p:txBody>
      </p:sp>
      <p:sp>
        <p:nvSpPr>
          <p:cNvPr id="18" name="Rectangle 17"/>
          <p:cNvSpPr/>
          <p:nvPr/>
        </p:nvSpPr>
        <p:spPr>
          <a:xfrm>
            <a:off x="8101583" y="1828800"/>
            <a:ext cx="3630168" cy="2057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1583" y="1828800"/>
            <a:ext cx="3630168" cy="73152"/>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84463" y="2029968"/>
            <a:ext cx="3264408" cy="457200"/>
          </a:xfrm>
          <a:prstGeom prst="rect">
            <a:avLst/>
          </a:prstGeom>
          <a:noFill/>
        </p:spPr>
        <p:txBody>
          <a:bodyPr wrap="square" anchor="t" lIns="45720" rIns="45720" tIns="27432" bIns="27432">
            <a:spAutoFit/>
          </a:bodyPr>
          <a:lstStyle/>
          <a:p>
            <a:pPr algn="l">
              <a:spcAft>
                <a:spcPts val="600"/>
              </a:spcAft>
            </a:pPr>
            <a:r>
              <a:rPr sz="1500" b="1">
                <a:solidFill>
                  <a:srgbClr val="1D0F1E"/>
                </a:solidFill>
                <a:latin typeface="Arial"/>
              </a:rPr>
              <a:t>Với đồng nghiệp</a:t>
            </a:r>
          </a:p>
        </p:txBody>
      </p:sp>
      <p:sp>
        <p:nvSpPr>
          <p:cNvPr id="21" name="TextBox 20"/>
          <p:cNvSpPr txBox="1"/>
          <p:nvPr/>
        </p:nvSpPr>
        <p:spPr>
          <a:xfrm>
            <a:off x="8284463" y="2560320"/>
            <a:ext cx="3264408" cy="123444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Phối hợp, hỗ trợ; ưu tiên trao đổi trực tiếp</a:t>
            </a:r>
          </a:p>
          <a:p>
            <a:pPr algn="l">
              <a:spcAft>
                <a:spcPts val="500"/>
              </a:spcAft>
            </a:pPr>
            <a:r>
              <a:rPr sz="1300" b="1">
                <a:solidFill>
                  <a:srgbClr val="ED1C24"/>
                </a:solidFill>
                <a:latin typeface="Arial"/>
              </a:rPr>
              <a:t>▪  </a:t>
            </a:r>
            <a:r>
              <a:rPr sz="1300" b="0">
                <a:solidFill>
                  <a:srgbClr val="1D0F1E"/>
                </a:solidFill>
                <a:latin typeface="Arial"/>
              </a:rPr>
              <a:t>Không nói xấu, bè phái, bắt nạt hay cô lập</a:t>
            </a:r>
          </a:p>
        </p:txBody>
      </p:sp>
      <p:sp>
        <p:nvSpPr>
          <p:cNvPr id="22" name="Rectangle 21"/>
          <p:cNvSpPr/>
          <p:nvPr/>
        </p:nvSpPr>
        <p:spPr>
          <a:xfrm>
            <a:off x="457200" y="4069080"/>
            <a:ext cx="3630168" cy="2057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4069080"/>
            <a:ext cx="3630168"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4270248"/>
            <a:ext cx="3264408" cy="457200"/>
          </a:xfrm>
          <a:prstGeom prst="rect">
            <a:avLst/>
          </a:prstGeom>
          <a:noFill/>
        </p:spPr>
        <p:txBody>
          <a:bodyPr wrap="square" anchor="t" lIns="45720" rIns="45720" tIns="27432" bIns="27432">
            <a:spAutoFit/>
          </a:bodyPr>
          <a:lstStyle/>
          <a:p>
            <a:pPr algn="l">
              <a:spcAft>
                <a:spcPts val="600"/>
              </a:spcAft>
            </a:pPr>
            <a:r>
              <a:rPr sz="1500" b="1">
                <a:solidFill>
                  <a:srgbClr val="1D0F1E"/>
                </a:solidFill>
                <a:latin typeface="Arial"/>
              </a:rPr>
              <a:t>Với học viên</a:t>
            </a:r>
          </a:p>
        </p:txBody>
      </p:sp>
      <p:sp>
        <p:nvSpPr>
          <p:cNvPr id="25" name="TextBox 24"/>
          <p:cNvSpPr txBox="1"/>
          <p:nvPr/>
        </p:nvSpPr>
        <p:spPr>
          <a:xfrm>
            <a:off x="640080" y="4800600"/>
            <a:ext cx="3264408" cy="123444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Đối xử công bằng; không đe dọa, xúc phạm, miệt thị</a:t>
            </a:r>
          </a:p>
          <a:p>
            <a:pPr algn="l">
              <a:spcAft>
                <a:spcPts val="500"/>
              </a:spcAft>
            </a:pPr>
            <a:r>
              <a:rPr sz="1300" b="1">
                <a:solidFill>
                  <a:srgbClr val="ED1C24"/>
                </a:solidFill>
                <a:latin typeface="Arial"/>
              </a:rPr>
              <a:t>▪  </a:t>
            </a:r>
            <a:r>
              <a:rPr sz="1300" b="0">
                <a:solidFill>
                  <a:srgbClr val="1D0F1E"/>
                </a:solidFill>
                <a:latin typeface="Arial"/>
              </a:rPr>
              <a:t>Bảo mật hồ sơ, kết quả và thông tin riêng tư</a:t>
            </a:r>
          </a:p>
        </p:txBody>
      </p:sp>
      <p:sp>
        <p:nvSpPr>
          <p:cNvPr id="26" name="Rectangle 25"/>
          <p:cNvSpPr/>
          <p:nvPr/>
        </p:nvSpPr>
        <p:spPr>
          <a:xfrm>
            <a:off x="4279392" y="4069080"/>
            <a:ext cx="3630168" cy="2057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79392" y="4069080"/>
            <a:ext cx="3630168"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62272" y="4270248"/>
            <a:ext cx="3264408" cy="457200"/>
          </a:xfrm>
          <a:prstGeom prst="rect">
            <a:avLst/>
          </a:prstGeom>
          <a:noFill/>
        </p:spPr>
        <p:txBody>
          <a:bodyPr wrap="square" anchor="t" lIns="45720" rIns="45720" tIns="27432" bIns="27432">
            <a:spAutoFit/>
          </a:bodyPr>
          <a:lstStyle/>
          <a:p>
            <a:pPr algn="l">
              <a:spcAft>
                <a:spcPts val="600"/>
              </a:spcAft>
            </a:pPr>
            <a:r>
              <a:rPr sz="1500" b="1">
                <a:solidFill>
                  <a:srgbClr val="1D0F1E"/>
                </a:solidFill>
                <a:latin typeface="Arial"/>
              </a:rPr>
              <a:t>Với phụ huynh</a:t>
            </a:r>
          </a:p>
        </p:txBody>
      </p:sp>
      <p:sp>
        <p:nvSpPr>
          <p:cNvPr id="29" name="TextBox 28"/>
          <p:cNvSpPr txBox="1"/>
          <p:nvPr/>
        </p:nvSpPr>
        <p:spPr>
          <a:xfrm>
            <a:off x="4462272" y="4800600"/>
            <a:ext cx="3264408" cy="123444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Lịch sự, lắng nghe; cung cấp thông tin trung thực</a:t>
            </a:r>
          </a:p>
          <a:p>
            <a:pPr algn="l">
              <a:spcAft>
                <a:spcPts val="500"/>
              </a:spcAft>
            </a:pPr>
            <a:r>
              <a:rPr sz="1300" b="1">
                <a:solidFill>
                  <a:srgbClr val="ED1C24"/>
                </a:solidFill>
                <a:latin typeface="Arial"/>
              </a:rPr>
              <a:t>▪  </a:t>
            </a:r>
            <a:r>
              <a:rPr sz="1300" b="0">
                <a:solidFill>
                  <a:srgbClr val="1D0F1E"/>
                </a:solidFill>
                <a:latin typeface="Arial"/>
              </a:rPr>
              <a:t>Không cam kết hoàn tiền, bồi thường vượt thẩm quyền</a:t>
            </a:r>
          </a:p>
        </p:txBody>
      </p:sp>
      <p:sp>
        <p:nvSpPr>
          <p:cNvPr id="30" name="Rectangle 29"/>
          <p:cNvSpPr/>
          <p:nvPr/>
        </p:nvSpPr>
        <p:spPr>
          <a:xfrm>
            <a:off x="8101583" y="4069080"/>
            <a:ext cx="3630168" cy="205740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01583" y="4069080"/>
            <a:ext cx="3630168" cy="73152"/>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284463" y="4270248"/>
            <a:ext cx="3264408" cy="457200"/>
          </a:xfrm>
          <a:prstGeom prst="rect">
            <a:avLst/>
          </a:prstGeom>
          <a:noFill/>
        </p:spPr>
        <p:txBody>
          <a:bodyPr wrap="square" anchor="t" lIns="45720" rIns="45720" tIns="27432" bIns="27432">
            <a:spAutoFit/>
          </a:bodyPr>
          <a:lstStyle/>
          <a:p>
            <a:pPr algn="l">
              <a:spcAft>
                <a:spcPts val="600"/>
              </a:spcAft>
            </a:pPr>
            <a:r>
              <a:rPr sz="1500" b="1">
                <a:solidFill>
                  <a:srgbClr val="1D0F1E"/>
                </a:solidFill>
                <a:latin typeface="Arial"/>
              </a:rPr>
              <a:t>Khách hàng &amp; đối tác</a:t>
            </a:r>
          </a:p>
        </p:txBody>
      </p:sp>
      <p:sp>
        <p:nvSpPr>
          <p:cNvPr id="33" name="TextBox 32"/>
          <p:cNvSpPr txBox="1"/>
          <p:nvPr/>
        </p:nvSpPr>
        <p:spPr>
          <a:xfrm>
            <a:off x="8284463" y="4800600"/>
            <a:ext cx="3264408" cy="123444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Tư vấn trung thực về chương trình, chi phí, quyền lợi</a:t>
            </a:r>
          </a:p>
          <a:p>
            <a:pPr algn="l">
              <a:spcAft>
                <a:spcPts val="500"/>
              </a:spcAft>
            </a:pPr>
            <a:r>
              <a:rPr sz="1300" b="1">
                <a:solidFill>
                  <a:srgbClr val="ED1C24"/>
                </a:solidFill>
                <a:latin typeface="Arial"/>
              </a:rPr>
              <a:t>▪  </a:t>
            </a:r>
            <a:r>
              <a:rPr sz="1300" b="0">
                <a:solidFill>
                  <a:srgbClr val="1D0F1E"/>
                </a:solidFill>
                <a:latin typeface="Arial"/>
              </a:rPr>
              <a:t>Không tự thu tiền, miễn giảm hay hứa hẹn ngoài chính sách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HÀNH VI BỊ NGHIÊM CẤM &amp; CÁCH PHẢN ÁNH</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15</a:t>
            </a:r>
          </a:p>
        </p:txBody>
      </p:sp>
      <p:sp>
        <p:nvSpPr>
          <p:cNvPr id="10" name="Rectangle 9"/>
          <p:cNvSpPr/>
          <p:nvPr/>
        </p:nvSpPr>
        <p:spPr>
          <a:xfrm>
            <a:off x="457200" y="1828800"/>
            <a:ext cx="5532120" cy="4297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553212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516635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Hành vi bị nghiêm cấm</a:t>
            </a:r>
          </a:p>
        </p:txBody>
      </p:sp>
      <p:sp>
        <p:nvSpPr>
          <p:cNvPr id="13" name="TextBox 12"/>
          <p:cNvSpPr txBox="1"/>
          <p:nvPr/>
        </p:nvSpPr>
        <p:spPr>
          <a:xfrm>
            <a:off x="640080" y="2560320"/>
            <a:ext cx="5166359" cy="3474720"/>
          </a:xfrm>
          <a:prstGeom prst="rect">
            <a:avLst/>
          </a:prstGeom>
          <a:noFill/>
        </p:spPr>
        <p:txBody>
          <a:bodyPr wrap="square" anchor="t" lIns="45720" rIns="45720" tIns="27432" bIns="27432">
            <a:spAutoFit/>
          </a:bodyPr>
          <a:lstStyle/>
          <a:p>
            <a:pPr algn="l">
              <a:spcAft>
                <a:spcPts val="500"/>
              </a:spcAft>
            </a:pPr>
            <a:r>
              <a:rPr sz="1400" b="1">
                <a:solidFill>
                  <a:srgbClr val="ED1C24"/>
                </a:solidFill>
                <a:latin typeface="Arial"/>
              </a:rPr>
              <a:t>▪  </a:t>
            </a:r>
            <a:r>
              <a:rPr sz="1400" b="0">
                <a:solidFill>
                  <a:srgbClr val="1D0F1E"/>
                </a:solidFill>
                <a:latin typeface="Arial"/>
              </a:rPr>
              <a:t>Chửi bới, lăng mạ, đe dọa, bạo lực, quấy rối tình dục hoặc bắt nạt</a:t>
            </a:r>
          </a:p>
          <a:p>
            <a:pPr algn="l">
              <a:spcAft>
                <a:spcPts val="500"/>
              </a:spcAft>
            </a:pPr>
            <a:r>
              <a:rPr sz="1400" b="1">
                <a:solidFill>
                  <a:srgbClr val="ED1C24"/>
                </a:solidFill>
                <a:latin typeface="Arial"/>
              </a:rPr>
              <a:t>▪  </a:t>
            </a:r>
            <a:r>
              <a:rPr sz="1400" b="0">
                <a:solidFill>
                  <a:srgbClr val="1D0F1E"/>
                </a:solidFill>
                <a:latin typeface="Arial"/>
              </a:rPr>
              <a:t>Lợi dụng chức vụ để ép buộc, trù dập, phân biệt đối xử</a:t>
            </a:r>
          </a:p>
          <a:p>
            <a:pPr algn="l">
              <a:spcAft>
                <a:spcPts val="500"/>
              </a:spcAft>
            </a:pPr>
            <a:r>
              <a:rPr sz="1400" b="1">
                <a:solidFill>
                  <a:srgbClr val="ED1C24"/>
                </a:solidFill>
                <a:latin typeface="Arial"/>
              </a:rPr>
              <a:t>▪  </a:t>
            </a:r>
            <a:r>
              <a:rPr sz="1400" b="0">
                <a:solidFill>
                  <a:srgbClr val="1D0F1E"/>
                </a:solidFill>
                <a:latin typeface="Arial"/>
              </a:rPr>
              <a:t>Bịa đặt, vu khống, phát tán thông tin sai sự thật</a:t>
            </a:r>
          </a:p>
          <a:p>
            <a:pPr algn="l">
              <a:spcAft>
                <a:spcPts val="500"/>
              </a:spcAft>
            </a:pPr>
            <a:r>
              <a:rPr sz="1400" b="1">
                <a:solidFill>
                  <a:srgbClr val="ED1C24"/>
                </a:solidFill>
                <a:latin typeface="Arial"/>
              </a:rPr>
              <a:t>▪  </a:t>
            </a:r>
            <a:r>
              <a:rPr sz="1400" b="0">
                <a:solidFill>
                  <a:srgbClr val="1D0F1E"/>
                </a:solidFill>
                <a:latin typeface="Arial"/>
              </a:rPr>
              <a:t>Kích động mâu thuẫn, chia rẽ, cản trở người khác làm việc</a:t>
            </a:r>
          </a:p>
          <a:p>
            <a:pPr algn="l">
              <a:spcAft>
                <a:spcPts val="500"/>
              </a:spcAft>
            </a:pPr>
            <a:r>
              <a:rPr sz="1400" b="1">
                <a:solidFill>
                  <a:srgbClr val="ED1C24"/>
                </a:solidFill>
                <a:latin typeface="Arial"/>
              </a:rPr>
              <a:t>▪  </a:t>
            </a:r>
            <a:r>
              <a:rPr sz="1400" b="0">
                <a:solidFill>
                  <a:srgbClr val="1D0F1E"/>
                </a:solidFill>
                <a:latin typeface="Arial"/>
              </a:rPr>
              <a:t>Tự ý xử phạt học viên hoặc nhân viên ngoài thẩm quyền</a:t>
            </a:r>
          </a:p>
          <a:p>
            <a:pPr algn="l">
              <a:spcAft>
                <a:spcPts val="500"/>
              </a:spcAft>
            </a:pPr>
            <a:r>
              <a:rPr sz="1400" b="1">
                <a:solidFill>
                  <a:srgbClr val="ED1C24"/>
                </a:solidFill>
                <a:latin typeface="Arial"/>
              </a:rPr>
              <a:t>▪  </a:t>
            </a:r>
            <a:r>
              <a:rPr sz="1400" b="0">
                <a:solidFill>
                  <a:srgbClr val="1D0F1E"/>
                </a:solidFill>
                <a:latin typeface="Arial"/>
              </a:rPr>
              <a:t>Tiết lộ trái phép thông tin bảo mật, dữ liệu cá nhân</a:t>
            </a:r>
          </a:p>
        </p:txBody>
      </p:sp>
      <p:sp>
        <p:nvSpPr>
          <p:cNvPr id="14" name="Rectangle 13"/>
          <p:cNvSpPr/>
          <p:nvPr/>
        </p:nvSpPr>
        <p:spPr>
          <a:xfrm>
            <a:off x="6199632" y="1828800"/>
            <a:ext cx="5532120" cy="278892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2" y="1828800"/>
            <a:ext cx="5532120"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2029968"/>
            <a:ext cx="516635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Quy trình phản ánh</a:t>
            </a:r>
          </a:p>
        </p:txBody>
      </p:sp>
      <p:sp>
        <p:nvSpPr>
          <p:cNvPr id="17" name="TextBox 16"/>
          <p:cNvSpPr txBox="1"/>
          <p:nvPr/>
        </p:nvSpPr>
        <p:spPr>
          <a:xfrm>
            <a:off x="6382512" y="2560320"/>
            <a:ext cx="5166359" cy="196596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Phản ánh tới quản lý trực tiếp, Phòng HCNS hoặc bộ phận được phân công</a:t>
            </a:r>
          </a:p>
          <a:p>
            <a:pPr algn="l">
              <a:spcAft>
                <a:spcPts val="500"/>
              </a:spcAft>
            </a:pPr>
            <a:r>
              <a:rPr sz="1300" b="1">
                <a:solidFill>
                  <a:srgbClr val="ED1C24"/>
                </a:solidFill>
                <a:latin typeface="Arial"/>
              </a:rPr>
              <a:t>▪  </a:t>
            </a:r>
            <a:r>
              <a:rPr sz="1300" b="0">
                <a:solidFill>
                  <a:srgbClr val="1D0F1E"/>
                </a:solidFill>
                <a:latin typeface="Arial"/>
              </a:rPr>
              <a:t>Người tiếp nhận ghi nhận, thu thập thông tin và báo cáo cấp có thẩm quyền</a:t>
            </a:r>
          </a:p>
          <a:p>
            <a:pPr algn="l">
              <a:spcAft>
                <a:spcPts val="500"/>
              </a:spcAft>
            </a:pPr>
            <a:r>
              <a:rPr sz="1300" b="1">
                <a:solidFill>
                  <a:srgbClr val="ED1C24"/>
                </a:solidFill>
                <a:latin typeface="Arial"/>
              </a:rPr>
              <a:t>▪  </a:t>
            </a:r>
            <a:r>
              <a:rPr sz="1300" b="0">
                <a:solidFill>
                  <a:srgbClr val="1D0F1E"/>
                </a:solidFill>
                <a:latin typeface="Arial"/>
              </a:rPr>
              <a:t>Xác minh khách quan, bảo đảm quyền giải trình; kết quả lập bằng văn bản</a:t>
            </a:r>
          </a:p>
        </p:txBody>
      </p:sp>
      <p:sp>
        <p:nvSpPr>
          <p:cNvPr id="18" name="Rectangle 17"/>
          <p:cNvSpPr/>
          <p:nvPr/>
        </p:nvSpPr>
        <p:spPr>
          <a:xfrm>
            <a:off x="6199632" y="4800600"/>
            <a:ext cx="5532120" cy="1325880"/>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28232" y="4800600"/>
            <a:ext cx="5074920" cy="1325880"/>
          </a:xfrm>
          <a:prstGeom prst="rect">
            <a:avLst/>
          </a:prstGeom>
          <a:noFill/>
        </p:spPr>
        <p:txBody>
          <a:bodyPr wrap="square" anchor="ctr" lIns="45720" rIns="45720" tIns="27432" bIns="27432">
            <a:spAutoFit/>
          </a:bodyPr>
          <a:lstStyle/>
          <a:p>
            <a:pPr algn="l">
              <a:spcAft>
                <a:spcPts val="600"/>
              </a:spcAft>
            </a:pPr>
            <a:r>
              <a:rPr sz="1300" b="1">
                <a:solidFill>
                  <a:srgbClr val="1D0F1E"/>
                </a:solidFill>
                <a:latin typeface="Arial"/>
              </a:rPr>
              <a:t>Tuyệt đối không trù dập, đe dọa người phản ánh trung thực. Hành vi nghiêm trọng có thể xử lý ngay, không cần nhắc nhở trước.</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7955279" y="0"/>
            <a:ext cx="3840481" cy="6858000"/>
          </a:xfrm>
          <a:custGeom>
            <a:avLst/>
            <a:gdLst/>
            <a:ahLst/>
            <a:cxnLst/>
            <a:rect l="l" t="t" r="r" b="b"/>
            <a:pathLst>
              <a:path w="3840481" h="6858000">
                <a:moveTo>
                  <a:pt x="548641" y="0"/>
                </a:moveTo>
                <a:lnTo>
                  <a:pt x="3840481" y="0"/>
                </a:lnTo>
                <a:lnTo>
                  <a:pt x="1645921" y="6858000"/>
                </a:lnTo>
                <a:lnTo>
                  <a:pt x="0" y="6858000"/>
                </a:lnTo>
                <a:close/>
              </a:path>
            </a:pathLst>
          </a:cu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058400" y="2807208"/>
            <a:ext cx="2133295" cy="4050792"/>
          </a:xfrm>
          <a:custGeom>
            <a:avLst/>
            <a:gdLst/>
            <a:ahLst/>
            <a:cxnLst/>
            <a:rect l="l" t="t" r="r" b="b"/>
            <a:pathLst>
              <a:path w="2133295" h="4050792">
                <a:moveTo>
                  <a:pt x="822960" y="0"/>
                </a:moveTo>
                <a:lnTo>
                  <a:pt x="2133295" y="0"/>
                </a:lnTo>
                <a:lnTo>
                  <a:pt x="2133295" y="4050792"/>
                </a:lnTo>
                <a:lnTo>
                  <a:pt x="0" y="4050792"/>
                </a:lnTo>
                <a:close/>
              </a:path>
            </a:pathLst>
          </a:cu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6" name="Rectangle 5"/>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7" name="Rectangle 6"/>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8" name="TextBox 7"/>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FFFFFF"/>
                </a:solidFill>
                <a:latin typeface="Arial"/>
              </a:rPr>
              <a:t>Education</a:t>
            </a:r>
          </a:p>
          <a:p>
            <a:pPr algn="l">
              <a:spcAft>
                <a:spcPts val="0"/>
              </a:spcAft>
            </a:pPr>
            <a:r>
              <a:rPr sz="1000" b="1">
                <a:solidFill>
                  <a:srgbClr val="FFFFFF"/>
                </a:solidFill>
                <a:latin typeface="Arial"/>
              </a:rPr>
              <a:t>Group</a:t>
            </a:r>
          </a:p>
        </p:txBody>
      </p:sp>
      <p:sp>
        <p:nvSpPr>
          <p:cNvPr id="9" name="TextBox 8"/>
          <p:cNvSpPr txBox="1"/>
          <p:nvPr/>
        </p:nvSpPr>
        <p:spPr>
          <a:xfrm>
            <a:off x="731520" y="2103120"/>
            <a:ext cx="5486400" cy="1280160"/>
          </a:xfrm>
          <a:prstGeom prst="rect">
            <a:avLst/>
          </a:prstGeom>
          <a:noFill/>
        </p:spPr>
        <p:txBody>
          <a:bodyPr wrap="square" anchor="t" lIns="45720" rIns="45720" tIns="27432" bIns="27432">
            <a:spAutoFit/>
          </a:bodyPr>
          <a:lstStyle/>
          <a:p>
            <a:pPr algn="l">
              <a:spcAft>
                <a:spcPts val="600"/>
              </a:spcAft>
            </a:pPr>
            <a:r>
              <a:rPr sz="7200" b="1">
                <a:solidFill>
                  <a:srgbClr val="FDC01B"/>
                </a:solidFill>
                <a:latin typeface="Arial"/>
              </a:rPr>
              <a:t>04</a:t>
            </a:r>
          </a:p>
        </p:txBody>
      </p:sp>
      <p:sp>
        <p:nvSpPr>
          <p:cNvPr id="10" name="TextBox 9"/>
          <p:cNvSpPr txBox="1"/>
          <p:nvPr/>
        </p:nvSpPr>
        <p:spPr>
          <a:xfrm>
            <a:off x="731520" y="3383280"/>
            <a:ext cx="7315200" cy="1463040"/>
          </a:xfrm>
          <a:prstGeom prst="rect">
            <a:avLst/>
          </a:prstGeom>
          <a:noFill/>
        </p:spPr>
        <p:txBody>
          <a:bodyPr wrap="square" anchor="t" lIns="45720" rIns="45720" tIns="27432" bIns="27432">
            <a:spAutoFit/>
          </a:bodyPr>
          <a:lstStyle/>
          <a:p>
            <a:pPr algn="l">
              <a:spcAft>
                <a:spcPts val="600"/>
              </a:spcAft>
            </a:pPr>
            <a:r>
              <a:rPr sz="3600" b="1">
                <a:solidFill>
                  <a:srgbClr val="FFFFFF"/>
                </a:solidFill>
                <a:latin typeface="Arial"/>
              </a:rPr>
              <a:t>QUY ĐỊNH HOẠT ĐỘNG ĐỐI NGOẠI</a:t>
            </a:r>
          </a:p>
        </p:txBody>
      </p:sp>
      <p:sp>
        <p:nvSpPr>
          <p:cNvPr id="11" name="Rectangle 10"/>
          <p:cNvSpPr/>
          <p:nvPr/>
        </p:nvSpPr>
        <p:spPr>
          <a:xfrm>
            <a:off x="777240" y="484632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5029200"/>
            <a:ext cx="7315200" cy="548640"/>
          </a:xfrm>
          <a:prstGeom prst="rect">
            <a:avLst/>
          </a:prstGeom>
          <a:noFill/>
        </p:spPr>
        <p:txBody>
          <a:bodyPr wrap="square" anchor="t" lIns="45720" rIns="45720" tIns="27432" bIns="27432">
            <a:spAutoFit/>
          </a:bodyPr>
          <a:lstStyle/>
          <a:p>
            <a:pPr algn="l">
              <a:spcAft>
                <a:spcPts val="600"/>
              </a:spcAft>
            </a:pPr>
            <a:r>
              <a:rPr sz="1600" b="0">
                <a:solidFill>
                  <a:srgbClr val="FFFFFF"/>
                </a:solidFill>
                <a:latin typeface="Arial"/>
              </a:rPr>
              <a:t>Quy định BĐH-QĐ-01 về quản lý hoạt động đối ngoại</a:t>
            </a:r>
          </a:p>
        </p:txBody>
      </p:sp>
      <p:sp>
        <p:nvSpPr>
          <p:cNvPr id="13" name="TextBox 12"/>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FFFFFF"/>
                </a:solidFill>
                <a:latin typeface="Arial"/>
              </a:rPr>
              <a:t>BLA Education Group  |  Đào tạo nội bộ – Khối HCNS</a:t>
            </a:r>
          </a:p>
        </p:txBody>
      </p:sp>
      <p:sp>
        <p:nvSpPr>
          <p:cNvPr id="14" name="TextBox 13"/>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FFFFFF"/>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PHẠM VI &amp; NGUYÊN TẮC ĐỐI NGOẠI</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17</a:t>
            </a:r>
          </a:p>
        </p:txBody>
      </p:sp>
      <p:sp>
        <p:nvSpPr>
          <p:cNvPr id="10" name="Rectangle 9"/>
          <p:cNvSpPr/>
          <p:nvPr/>
        </p:nvSpPr>
        <p:spPr>
          <a:xfrm>
            <a:off x="457200" y="1828800"/>
            <a:ext cx="5120640" cy="4297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512064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4754879"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Hoạt động đối ngoại là gì?</a:t>
            </a:r>
          </a:p>
        </p:txBody>
      </p:sp>
      <p:sp>
        <p:nvSpPr>
          <p:cNvPr id="13" name="TextBox 12"/>
          <p:cNvSpPr txBox="1"/>
          <p:nvPr/>
        </p:nvSpPr>
        <p:spPr>
          <a:xfrm>
            <a:off x="640080" y="2560320"/>
            <a:ext cx="4754879" cy="347472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CBNV nhân danh, đại diện BLA để trao đổi, làm việc với bên ngoài</a:t>
            </a:r>
          </a:p>
          <a:p>
            <a:pPr algn="l">
              <a:spcAft>
                <a:spcPts val="500"/>
              </a:spcAft>
            </a:pPr>
            <a:r>
              <a:rPr sz="1300" b="1">
                <a:solidFill>
                  <a:srgbClr val="ED1C24"/>
                </a:solidFill>
                <a:latin typeface="Arial"/>
              </a:rPr>
              <a:t>▪  </a:t>
            </a:r>
            <a:r>
              <a:rPr sz="1300" b="0">
                <a:solidFill>
                  <a:srgbClr val="1D0F1E"/>
                </a:solidFill>
                <a:latin typeface="Arial"/>
              </a:rPr>
              <a:t>Trường học, viện đào tạo, tổ chức khảo thí</a:t>
            </a:r>
          </a:p>
          <a:p>
            <a:pPr algn="l">
              <a:spcAft>
                <a:spcPts val="500"/>
              </a:spcAft>
            </a:pPr>
            <a:r>
              <a:rPr sz="1300" b="1">
                <a:solidFill>
                  <a:srgbClr val="ED1C24"/>
                </a:solidFill>
                <a:latin typeface="Arial"/>
              </a:rPr>
              <a:t>▪  </a:t>
            </a:r>
            <a:r>
              <a:rPr sz="1300" b="0">
                <a:solidFill>
                  <a:srgbClr val="1D0F1E"/>
                </a:solidFill>
                <a:latin typeface="Arial"/>
              </a:rPr>
              <a:t>Doanh nghiệp, nhà tuyển dụng, bệnh viện, đối tác trong và ngoài nước</a:t>
            </a:r>
          </a:p>
          <a:p>
            <a:pPr algn="l">
              <a:spcAft>
                <a:spcPts val="500"/>
              </a:spcAft>
            </a:pPr>
            <a:r>
              <a:rPr sz="1300" b="1">
                <a:solidFill>
                  <a:srgbClr val="ED1C24"/>
                </a:solidFill>
                <a:latin typeface="Arial"/>
              </a:rPr>
              <a:t>▪  </a:t>
            </a:r>
            <a:r>
              <a:rPr sz="1300" b="0">
                <a:solidFill>
                  <a:srgbClr val="1D0F1E"/>
                </a:solidFill>
                <a:latin typeface="Arial"/>
              </a:rPr>
              <a:t>Đối tác tuyển sinh, đại lý, cộng tác viên</a:t>
            </a:r>
          </a:p>
          <a:p>
            <a:pPr algn="l">
              <a:spcAft>
                <a:spcPts val="500"/>
              </a:spcAft>
            </a:pPr>
            <a:r>
              <a:rPr sz="1300" b="1">
                <a:solidFill>
                  <a:srgbClr val="ED1C24"/>
                </a:solidFill>
                <a:latin typeface="Arial"/>
              </a:rPr>
              <a:t>▪  </a:t>
            </a:r>
            <a:r>
              <a:rPr sz="1300" b="0">
                <a:solidFill>
                  <a:srgbClr val="1D0F1E"/>
                </a:solidFill>
                <a:latin typeface="Arial"/>
              </a:rPr>
              <a:t>Cơ quan nhà nước, Đại sứ quán, hiệp hội</a:t>
            </a:r>
          </a:p>
          <a:p>
            <a:pPr algn="l">
              <a:spcAft>
                <a:spcPts val="500"/>
              </a:spcAft>
            </a:pPr>
            <a:r>
              <a:rPr sz="1300" b="1">
                <a:solidFill>
                  <a:srgbClr val="ED1C24"/>
                </a:solidFill>
                <a:latin typeface="Arial"/>
              </a:rPr>
              <a:t>▪  </a:t>
            </a:r>
            <a:r>
              <a:rPr sz="1300" b="0">
                <a:solidFill>
                  <a:srgbClr val="1D0F1E"/>
                </a:solidFill>
                <a:latin typeface="Arial"/>
              </a:rPr>
              <a:t>Nhà cung cấp, nhà thầu; báo chí, KOL/KOC; khách hàng doanh nghiệp</a:t>
            </a:r>
          </a:p>
        </p:txBody>
      </p:sp>
      <p:sp>
        <p:nvSpPr>
          <p:cNvPr id="14" name="Rectangle 13"/>
          <p:cNvSpPr/>
          <p:nvPr/>
        </p:nvSpPr>
        <p:spPr>
          <a:xfrm>
            <a:off x="5852160" y="1828800"/>
            <a:ext cx="5879592" cy="12801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852160" y="1828800"/>
            <a:ext cx="5879592"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035040" y="2029968"/>
            <a:ext cx="5513831" cy="457200"/>
          </a:xfrm>
          <a:prstGeom prst="rect">
            <a:avLst/>
          </a:prstGeom>
          <a:noFill/>
        </p:spPr>
        <p:txBody>
          <a:bodyPr wrap="square" anchor="t" lIns="45720" rIns="45720" tIns="27432" bIns="27432">
            <a:spAutoFit/>
          </a:bodyPr>
          <a:lstStyle/>
          <a:p>
            <a:pPr algn="l">
              <a:spcAft>
                <a:spcPts val="600"/>
              </a:spcAft>
            </a:pPr>
            <a:r>
              <a:rPr sz="1500" b="1">
                <a:solidFill>
                  <a:srgbClr val="1D0F1E"/>
                </a:solidFill>
                <a:latin typeface="Arial"/>
              </a:rPr>
              <a:t>Đúng chức năng &amp; thẩm quyền</a:t>
            </a:r>
          </a:p>
        </p:txBody>
      </p:sp>
      <p:sp>
        <p:nvSpPr>
          <p:cNvPr id="17" name="TextBox 16"/>
          <p:cNvSpPr txBox="1"/>
          <p:nvPr/>
        </p:nvSpPr>
        <p:spPr>
          <a:xfrm>
            <a:off x="6035040" y="2560320"/>
            <a:ext cx="5513831" cy="457199"/>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Chỉ thực hiện trong phạm vi được giao; không tự quyết vượt thẩm quyền</a:t>
            </a:r>
          </a:p>
        </p:txBody>
      </p:sp>
      <p:sp>
        <p:nvSpPr>
          <p:cNvPr id="18" name="Rectangle 17"/>
          <p:cNvSpPr/>
          <p:nvPr/>
        </p:nvSpPr>
        <p:spPr>
          <a:xfrm>
            <a:off x="5852160" y="3291840"/>
            <a:ext cx="5879592" cy="12801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852160" y="3291840"/>
            <a:ext cx="5879592"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493008"/>
            <a:ext cx="5513831" cy="457200"/>
          </a:xfrm>
          <a:prstGeom prst="rect">
            <a:avLst/>
          </a:prstGeom>
          <a:noFill/>
        </p:spPr>
        <p:txBody>
          <a:bodyPr wrap="square" anchor="t" lIns="45720" rIns="45720" tIns="27432" bIns="27432">
            <a:spAutoFit/>
          </a:bodyPr>
          <a:lstStyle/>
          <a:p>
            <a:pPr algn="l">
              <a:spcAft>
                <a:spcPts val="600"/>
              </a:spcAft>
            </a:pPr>
            <a:r>
              <a:rPr sz="1500" b="1">
                <a:solidFill>
                  <a:srgbClr val="1D0F1E"/>
                </a:solidFill>
                <a:latin typeface="Arial"/>
              </a:rPr>
              <a:t>Thống nhất đầu mối</a:t>
            </a:r>
          </a:p>
        </p:txBody>
      </p:sp>
      <p:sp>
        <p:nvSpPr>
          <p:cNvPr id="21" name="TextBox 20"/>
          <p:cNvSpPr txBox="1"/>
          <p:nvPr/>
        </p:nvSpPr>
        <p:spPr>
          <a:xfrm>
            <a:off x="6035040" y="4023360"/>
            <a:ext cx="5513831" cy="457199"/>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Mỗi đối tác có một đầu mối chính; các bộ phận khác phối hợp, không nói khác nhau</a:t>
            </a:r>
          </a:p>
        </p:txBody>
      </p:sp>
      <p:sp>
        <p:nvSpPr>
          <p:cNvPr id="22" name="Rectangle 21"/>
          <p:cNvSpPr/>
          <p:nvPr/>
        </p:nvSpPr>
        <p:spPr>
          <a:xfrm>
            <a:off x="5852160" y="4754880"/>
            <a:ext cx="5879592" cy="128016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852160" y="4754880"/>
            <a:ext cx="5879592" cy="73152"/>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035040" y="4956048"/>
            <a:ext cx="5513831" cy="457200"/>
          </a:xfrm>
          <a:prstGeom prst="rect">
            <a:avLst/>
          </a:prstGeom>
          <a:noFill/>
        </p:spPr>
        <p:txBody>
          <a:bodyPr wrap="square" anchor="t" lIns="45720" rIns="45720" tIns="27432" bIns="27432">
            <a:spAutoFit/>
          </a:bodyPr>
          <a:lstStyle/>
          <a:p>
            <a:pPr algn="l">
              <a:spcAft>
                <a:spcPts val="600"/>
              </a:spcAft>
            </a:pPr>
            <a:r>
              <a:rPr sz="1500" b="1">
                <a:solidFill>
                  <a:srgbClr val="1D0F1E"/>
                </a:solidFill>
                <a:latin typeface="Arial"/>
              </a:rPr>
              <a:t>Trung thực &amp; nhất quán</a:t>
            </a:r>
          </a:p>
        </p:txBody>
      </p:sp>
      <p:sp>
        <p:nvSpPr>
          <p:cNvPr id="25" name="TextBox 24"/>
          <p:cNvSpPr txBox="1"/>
          <p:nvPr/>
        </p:nvSpPr>
        <p:spPr>
          <a:xfrm>
            <a:off x="6035040" y="5486400"/>
            <a:ext cx="5513831" cy="457199"/>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Thông tin chính xác, khớp với chính sách và thông tin chính thức của BLA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EMAIL, KÝ KẾT &amp; CAM KẾT VỚI ĐỐI TÁC</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18</a:t>
            </a:r>
          </a:p>
        </p:txBody>
      </p:sp>
      <p:sp>
        <p:nvSpPr>
          <p:cNvPr id="10" name="Rectangle 9"/>
          <p:cNvSpPr/>
          <p:nvPr/>
        </p:nvSpPr>
        <p:spPr>
          <a:xfrm>
            <a:off x="457200" y="1828800"/>
            <a:ext cx="3611880" cy="4297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361188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324612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Email &amp; minh bạch</a:t>
            </a:r>
          </a:p>
        </p:txBody>
      </p:sp>
      <p:sp>
        <p:nvSpPr>
          <p:cNvPr id="13" name="TextBox 12"/>
          <p:cNvSpPr txBox="1"/>
          <p:nvPr/>
        </p:nvSpPr>
        <p:spPr>
          <a:xfrm>
            <a:off x="640080" y="2560320"/>
            <a:ext cx="3246120" cy="347472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Email chính thức gửi bên ngoài phải CC Ban Lãnh đạo theo phạm vi</a:t>
            </a:r>
          </a:p>
          <a:p>
            <a:pPr algn="l">
              <a:spcAft>
                <a:spcPts val="500"/>
              </a:spcAft>
            </a:pPr>
            <a:r>
              <a:rPr sz="1300" b="1">
                <a:solidFill>
                  <a:srgbClr val="ED1C24"/>
                </a:solidFill>
                <a:latin typeface="Arial"/>
              </a:rPr>
              <a:t>▪  </a:t>
            </a:r>
            <a:r>
              <a:rPr sz="1300" b="0">
                <a:solidFill>
                  <a:srgbClr val="1D0F1E"/>
                </a:solidFill>
                <a:latin typeface="Arial"/>
              </a:rPr>
              <a:t>Đối ngoại: CC ông Nguyễn Tuấn Nam, ông Trương Hoàng Hải, bà Phan Thu Trang</a:t>
            </a:r>
          </a:p>
          <a:p>
            <a:pPr algn="l">
              <a:spcAft>
                <a:spcPts val="500"/>
              </a:spcAft>
            </a:pPr>
            <a:r>
              <a:rPr sz="1300" b="1">
                <a:solidFill>
                  <a:srgbClr val="ED1C24"/>
                </a:solidFill>
                <a:latin typeface="Arial"/>
              </a:rPr>
              <a:t>▪  </a:t>
            </a:r>
            <a:r>
              <a:rPr sz="1300" b="0">
                <a:solidFill>
                  <a:srgbClr val="1D0F1E"/>
                </a:solidFill>
                <a:latin typeface="Arial"/>
              </a:rPr>
              <a:t>Việc khác: CC ông Nguyễn Tuấn Nam, ông Trương Hoàng Hải</a:t>
            </a:r>
          </a:p>
          <a:p>
            <a:pPr algn="l">
              <a:spcAft>
                <a:spcPts val="500"/>
              </a:spcAft>
            </a:pPr>
            <a:r>
              <a:rPr sz="1300" b="1">
                <a:solidFill>
                  <a:srgbClr val="ED1C24"/>
                </a:solidFill>
                <a:latin typeface="Arial"/>
              </a:rPr>
              <a:t>▪  </a:t>
            </a:r>
            <a:r>
              <a:rPr sz="1300" b="0">
                <a:solidFill>
                  <a:srgbClr val="1D0F1E"/>
                </a:solidFill>
                <a:latin typeface="Arial"/>
              </a:rPr>
              <a:t>Trao đổi qua Zalo, điện thoại phải xác nhận lại bằng email</a:t>
            </a:r>
          </a:p>
        </p:txBody>
      </p:sp>
      <p:sp>
        <p:nvSpPr>
          <p:cNvPr id="14" name="Rectangle 13"/>
          <p:cNvSpPr/>
          <p:nvPr/>
        </p:nvSpPr>
        <p:spPr>
          <a:xfrm>
            <a:off x="4288536" y="1828800"/>
            <a:ext cx="3611880" cy="4297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88536" y="1828800"/>
            <a:ext cx="3611880"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1416" y="2029968"/>
            <a:ext cx="324612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Cam kết với đối tác</a:t>
            </a:r>
          </a:p>
        </p:txBody>
      </p:sp>
      <p:sp>
        <p:nvSpPr>
          <p:cNvPr id="17" name="TextBox 16"/>
          <p:cNvSpPr txBox="1"/>
          <p:nvPr/>
        </p:nvSpPr>
        <p:spPr>
          <a:xfrm>
            <a:off x="4471416" y="2560320"/>
            <a:ext cx="3246120" cy="347472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Không tự cam kết giá, phí, hoa hồng ngoài chính sách đã duyệt</a:t>
            </a:r>
          </a:p>
          <a:p>
            <a:pPr algn="l">
              <a:spcAft>
                <a:spcPts val="500"/>
              </a:spcAft>
            </a:pPr>
            <a:r>
              <a:rPr sz="1300" b="1">
                <a:solidFill>
                  <a:srgbClr val="ED1C24"/>
                </a:solidFill>
                <a:latin typeface="Arial"/>
              </a:rPr>
              <a:t>▪  </a:t>
            </a:r>
            <a:r>
              <a:rPr sz="1300" b="0">
                <a:solidFill>
                  <a:srgbClr val="1D0F1E"/>
                </a:solidFill>
                <a:latin typeface="Arial"/>
              </a:rPr>
              <a:t>Không ký MOU, hợp đồng khác mẫu đã được phê duyệt</a:t>
            </a:r>
          </a:p>
          <a:p>
            <a:pPr algn="l">
              <a:spcAft>
                <a:spcPts val="500"/>
              </a:spcAft>
            </a:pPr>
            <a:r>
              <a:rPr sz="1300" b="1">
                <a:solidFill>
                  <a:srgbClr val="ED1C24"/>
                </a:solidFill>
                <a:latin typeface="Arial"/>
              </a:rPr>
              <a:t>▪  </a:t>
            </a:r>
            <a:r>
              <a:rPr sz="1300" b="0">
                <a:solidFill>
                  <a:srgbClr val="1D0F1E"/>
                </a:solidFill>
                <a:latin typeface="Arial"/>
              </a:rPr>
              <a:t>Không hứa học bổng, hoàn phí, hỗ trợ tài chính, trách nhiệm tài chính</a:t>
            </a:r>
          </a:p>
        </p:txBody>
      </p:sp>
      <p:sp>
        <p:nvSpPr>
          <p:cNvPr id="18" name="Rectangle 17"/>
          <p:cNvSpPr/>
          <p:nvPr/>
        </p:nvSpPr>
        <p:spPr>
          <a:xfrm>
            <a:off x="8119872" y="1828800"/>
            <a:ext cx="3611880" cy="429768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9872" y="1828800"/>
            <a:ext cx="3611880" cy="73152"/>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2029968"/>
            <a:ext cx="324612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Ký kết &amp; danh nghĩa BLA</a:t>
            </a:r>
          </a:p>
        </p:txBody>
      </p:sp>
      <p:sp>
        <p:nvSpPr>
          <p:cNvPr id="21" name="TextBox 20"/>
          <p:cNvSpPr txBox="1"/>
          <p:nvPr/>
        </p:nvSpPr>
        <p:spPr>
          <a:xfrm>
            <a:off x="8302752" y="2560320"/>
            <a:ext cx="3246120" cy="347472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Chỉ người đại diện pháp luật hoặc người được ủy quyền hợp lệ được ký</a:t>
            </a:r>
          </a:p>
          <a:p>
            <a:pPr algn="l">
              <a:spcAft>
                <a:spcPts val="500"/>
              </a:spcAft>
            </a:pPr>
            <a:r>
              <a:rPr sz="1300" b="1">
                <a:solidFill>
                  <a:srgbClr val="ED1C24"/>
                </a:solidFill>
                <a:latin typeface="Arial"/>
              </a:rPr>
              <a:t>▪  </a:t>
            </a:r>
            <a:r>
              <a:rPr sz="1300" b="0">
                <a:solidFill>
                  <a:srgbClr val="1D0F1E"/>
                </a:solidFill>
                <a:latin typeface="Arial"/>
              </a:rPr>
              <a:t>Không tự dùng con dấu, chữ ký số, tên, logo BLA</a:t>
            </a:r>
          </a:p>
          <a:p>
            <a:pPr algn="l">
              <a:spcAft>
                <a:spcPts val="500"/>
              </a:spcAft>
            </a:pPr>
            <a:r>
              <a:rPr sz="1300" b="1">
                <a:solidFill>
                  <a:srgbClr val="ED1C24"/>
                </a:solidFill>
                <a:latin typeface="Arial"/>
              </a:rPr>
              <a:t>▪  </a:t>
            </a:r>
            <a:r>
              <a:rPr sz="1300" b="0">
                <a:solidFill>
                  <a:srgbClr val="1D0F1E"/>
                </a:solidFill>
                <a:latin typeface="Arial"/>
              </a:rPr>
              <a:t>Không phát hành thư mời, thư bảo lãnh khi chưa được duyệt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HỌP, PHÁT NGÔN &amp; BÁO CÁO SỰ KIỆN TRỌNG YẾU</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19</a:t>
            </a:r>
          </a:p>
        </p:txBody>
      </p:sp>
      <p:sp>
        <p:nvSpPr>
          <p:cNvPr id="10" name="Rectangle 9"/>
          <p:cNvSpPr/>
          <p:nvPr/>
        </p:nvSpPr>
        <p:spPr>
          <a:xfrm>
            <a:off x="457200" y="1828800"/>
            <a:ext cx="3611880" cy="301752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57200" y="1828800"/>
            <a:ext cx="3611880"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29968"/>
            <a:ext cx="324612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Biên bản họp</a:t>
            </a:r>
          </a:p>
        </p:txBody>
      </p:sp>
      <p:sp>
        <p:nvSpPr>
          <p:cNvPr id="13" name="TextBox 12"/>
          <p:cNvSpPr txBox="1"/>
          <p:nvPr/>
        </p:nvSpPr>
        <p:spPr>
          <a:xfrm>
            <a:off x="640080" y="2560320"/>
            <a:ext cx="3246120" cy="219456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Bắt buộc với đàm phán chiến lược, trao đổi hợp đồng, chính sách, tranh chấp</a:t>
            </a:r>
          </a:p>
          <a:p>
            <a:pPr algn="l">
              <a:spcAft>
                <a:spcPts val="500"/>
              </a:spcAft>
            </a:pPr>
            <a:r>
              <a:rPr sz="1300" b="1">
                <a:solidFill>
                  <a:srgbClr val="ED1C24"/>
                </a:solidFill>
                <a:latin typeface="Arial"/>
              </a:rPr>
              <a:t>▪  </a:t>
            </a:r>
            <a:r>
              <a:rPr sz="1300" b="0">
                <a:solidFill>
                  <a:srgbClr val="1D0F1E"/>
                </a:solidFill>
                <a:latin typeface="Arial"/>
              </a:rPr>
              <a:t>Hoàn thành trong 24 giờ; CC Ban Lãnh đạo</a:t>
            </a:r>
          </a:p>
        </p:txBody>
      </p:sp>
      <p:sp>
        <p:nvSpPr>
          <p:cNvPr id="14" name="Rectangle 13"/>
          <p:cNvSpPr/>
          <p:nvPr/>
        </p:nvSpPr>
        <p:spPr>
          <a:xfrm>
            <a:off x="4288536" y="1828800"/>
            <a:ext cx="3611880" cy="301752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88536" y="1828800"/>
            <a:ext cx="3611880" cy="73152"/>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71416" y="2029968"/>
            <a:ext cx="324612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Phát ngôn &amp; truyền thông</a:t>
            </a:r>
          </a:p>
        </p:txBody>
      </p:sp>
      <p:sp>
        <p:nvSpPr>
          <p:cNvPr id="17" name="TextBox 16"/>
          <p:cNvSpPr txBox="1"/>
          <p:nvPr/>
        </p:nvSpPr>
        <p:spPr>
          <a:xfrm>
            <a:off x="4471416" y="2560320"/>
            <a:ext cx="3246120" cy="219456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Không tự phát ngôn thay BLA với báo chí</a:t>
            </a:r>
          </a:p>
          <a:p>
            <a:pPr algn="l">
              <a:spcAft>
                <a:spcPts val="500"/>
              </a:spcAft>
            </a:pPr>
            <a:r>
              <a:rPr sz="1300" b="1">
                <a:solidFill>
                  <a:srgbClr val="ED1C24"/>
                </a:solidFill>
                <a:latin typeface="Arial"/>
              </a:rPr>
              <a:t>▪  </a:t>
            </a:r>
            <a:r>
              <a:rPr sz="1300" b="0">
                <a:solidFill>
                  <a:srgbClr val="1D0F1E"/>
                </a:solidFill>
                <a:latin typeface="Arial"/>
              </a:rPr>
              <a:t>Gặp sự cố truyền thông: báo cáo quản lý, không tự phản hồi</a:t>
            </a:r>
          </a:p>
        </p:txBody>
      </p:sp>
      <p:sp>
        <p:nvSpPr>
          <p:cNvPr id="18" name="Rectangle 17"/>
          <p:cNvSpPr/>
          <p:nvPr/>
        </p:nvSpPr>
        <p:spPr>
          <a:xfrm>
            <a:off x="8119872" y="1828800"/>
            <a:ext cx="3611880" cy="301752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19872" y="1828800"/>
            <a:ext cx="3611880" cy="73152"/>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02752" y="2029968"/>
            <a:ext cx="3246120"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Quà tặng &amp; chi phí</a:t>
            </a:r>
          </a:p>
        </p:txBody>
      </p:sp>
      <p:sp>
        <p:nvSpPr>
          <p:cNvPr id="21" name="TextBox 20"/>
          <p:cNvSpPr txBox="1"/>
          <p:nvPr/>
        </p:nvSpPr>
        <p:spPr>
          <a:xfrm>
            <a:off x="8302752" y="2560320"/>
            <a:ext cx="3246120" cy="219456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Không nhận, tặng lợi ích có thể ảnh hưởng tính khách quan</a:t>
            </a:r>
          </a:p>
          <a:p>
            <a:pPr algn="l">
              <a:spcAft>
                <a:spcPts val="500"/>
              </a:spcAft>
            </a:pPr>
            <a:r>
              <a:rPr sz="1300" b="1">
                <a:solidFill>
                  <a:srgbClr val="ED1C24"/>
                </a:solidFill>
                <a:latin typeface="Arial"/>
              </a:rPr>
              <a:t>▪  </a:t>
            </a:r>
            <a:r>
              <a:rPr sz="1300" b="0">
                <a:solidFill>
                  <a:srgbClr val="1D0F1E"/>
                </a:solidFill>
                <a:latin typeface="Arial"/>
              </a:rPr>
              <a:t>Chi phí đối ngoại phải có mục đích rõ ràng và đủ chứng từ</a:t>
            </a:r>
          </a:p>
        </p:txBody>
      </p:sp>
      <p:sp>
        <p:nvSpPr>
          <p:cNvPr id="22" name="Rectangle 21"/>
          <p:cNvSpPr/>
          <p:nvPr/>
        </p:nvSpPr>
        <p:spPr>
          <a:xfrm>
            <a:off x="457200" y="5029200"/>
            <a:ext cx="11274552" cy="1234440"/>
          </a:xfrm>
          <a:prstGeom prst="rect">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5029200"/>
            <a:ext cx="11274552" cy="73152"/>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0080" y="5230368"/>
            <a:ext cx="10908792" cy="457200"/>
          </a:xfrm>
          <a:prstGeom prst="rect">
            <a:avLst/>
          </a:prstGeom>
          <a:noFill/>
        </p:spPr>
        <p:txBody>
          <a:bodyPr wrap="square" anchor="t" lIns="45720" rIns="45720" tIns="27432" bIns="27432">
            <a:spAutoFit/>
          </a:bodyPr>
          <a:lstStyle/>
          <a:p>
            <a:pPr algn="l">
              <a:spcAft>
                <a:spcPts val="600"/>
              </a:spcAft>
            </a:pPr>
            <a:r>
              <a:rPr sz="1600" b="1">
                <a:solidFill>
                  <a:srgbClr val="1D0F1E"/>
                </a:solidFill>
                <a:latin typeface="Arial"/>
              </a:rPr>
              <a:t>Báo cáo ngay Trưởng bộ phận &amp; Ban Lãnh đạo khi</a:t>
            </a:r>
          </a:p>
        </p:txBody>
      </p:sp>
      <p:sp>
        <p:nvSpPr>
          <p:cNvPr id="25" name="TextBox 24"/>
          <p:cNvSpPr txBox="1"/>
          <p:nvPr/>
        </p:nvSpPr>
        <p:spPr>
          <a:xfrm>
            <a:off x="640080" y="5760720"/>
            <a:ext cx="10908792" cy="411480"/>
          </a:xfrm>
          <a:prstGeom prst="rect">
            <a:avLst/>
          </a:prstGeom>
          <a:noFill/>
        </p:spPr>
        <p:txBody>
          <a:bodyPr wrap="square" anchor="t" lIns="45720" rIns="45720" tIns="27432" bIns="27432">
            <a:spAutoFit/>
          </a:bodyPr>
          <a:lstStyle/>
          <a:p>
            <a:pPr algn="l">
              <a:spcAft>
                <a:spcPts val="500"/>
              </a:spcAft>
            </a:pPr>
            <a:r>
              <a:rPr sz="1300" b="1">
                <a:solidFill>
                  <a:srgbClr val="ED1C24"/>
                </a:solidFill>
                <a:latin typeface="Arial"/>
              </a:rPr>
              <a:t>▪  </a:t>
            </a:r>
            <a:r>
              <a:rPr sz="1300" b="0">
                <a:solidFill>
                  <a:srgbClr val="1D0F1E"/>
                </a:solidFill>
                <a:latin typeface="Arial"/>
              </a:rPr>
              <a:t>Thiết lập, thay đổi hoặc chấm dứt hợp tác  •  Chuẩn bị ký, sửa, chấm dứt MOU/hợp đồng  •  Khiếu nại, tranh chấp, yêu cầu hoàn tiền  •  Làm việc với cơ quan nhà nước, Đại sứ quán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3" name="Rectangle 2"/>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4" name="Rectangle 3"/>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5" name="TextBox 4"/>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1D0F1E"/>
                </a:solidFill>
                <a:latin typeface="Arial"/>
              </a:rPr>
              <a:t>Education</a:t>
            </a:r>
          </a:p>
          <a:p>
            <a:pPr algn="l">
              <a:spcAft>
                <a:spcPts val="0"/>
              </a:spcAft>
            </a:pPr>
            <a:r>
              <a:rPr sz="1000" b="1">
                <a:solidFill>
                  <a:srgbClr val="1D0F1E"/>
                </a:solidFill>
                <a:latin typeface="Arial"/>
              </a:rPr>
              <a:t>Group</a:t>
            </a:r>
          </a:p>
        </p:txBody>
      </p:sp>
      <p:sp>
        <p:nvSpPr>
          <p:cNvPr id="6" name="TextBox 5"/>
          <p:cNvSpPr txBox="1"/>
          <p:nvPr/>
        </p:nvSpPr>
        <p:spPr>
          <a:xfrm>
            <a:off x="457200" y="868680"/>
            <a:ext cx="11247120" cy="640080"/>
          </a:xfrm>
          <a:prstGeom prst="rect">
            <a:avLst/>
          </a:prstGeom>
          <a:noFill/>
        </p:spPr>
        <p:txBody>
          <a:bodyPr wrap="square" anchor="t" lIns="45720" rIns="45720" tIns="27432" bIns="27432">
            <a:spAutoFit/>
          </a:bodyPr>
          <a:lstStyle/>
          <a:p>
            <a:pPr algn="l">
              <a:spcAft>
                <a:spcPts val="600"/>
              </a:spcAft>
            </a:pPr>
            <a:r>
              <a:rPr sz="2800" b="1">
                <a:solidFill>
                  <a:srgbClr val="1D0F1E"/>
                </a:solidFill>
                <a:latin typeface="Arial"/>
              </a:rPr>
              <a:t>5 ĐIỀU CẦN NHỚ</a:t>
            </a:r>
          </a:p>
        </p:txBody>
      </p:sp>
      <p:sp>
        <p:nvSpPr>
          <p:cNvPr id="7" name="Rectangle 6"/>
          <p:cNvSpPr/>
          <p:nvPr/>
        </p:nvSpPr>
        <p:spPr>
          <a:xfrm>
            <a:off x="457200" y="155448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5A5A5A"/>
                </a:solidFill>
                <a:latin typeface="Arial"/>
              </a:rPr>
              <a:t>BLA Education Group  |  Đào tạo nội bộ – Khối HCNS</a:t>
            </a:r>
          </a:p>
        </p:txBody>
      </p:sp>
      <p:sp>
        <p:nvSpPr>
          <p:cNvPr id="9" name="TextBox 8"/>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5A5A5A"/>
                </a:solidFill>
                <a:latin typeface="Arial"/>
              </a:rPr>
              <a:t>20</a:t>
            </a:r>
          </a:p>
        </p:txBody>
      </p:sp>
      <p:sp>
        <p:nvSpPr>
          <p:cNvPr id="10" name="Rectangle 9"/>
          <p:cNvSpPr/>
          <p:nvPr/>
        </p:nvSpPr>
        <p:spPr>
          <a:xfrm>
            <a:off x="457200" y="1828800"/>
            <a:ext cx="731520" cy="731520"/>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7200" y="1828800"/>
            <a:ext cx="731520" cy="731520"/>
          </a:xfrm>
          <a:prstGeom prst="rect">
            <a:avLst/>
          </a:prstGeom>
          <a:noFill/>
        </p:spPr>
        <p:txBody>
          <a:bodyPr wrap="square" anchor="ctr" lIns="45720" rIns="45720" tIns="27432" bIns="27432">
            <a:spAutoFit/>
          </a:bodyPr>
          <a:lstStyle/>
          <a:p>
            <a:pPr algn="ctr">
              <a:spcAft>
                <a:spcPts val="600"/>
              </a:spcAft>
            </a:pPr>
            <a:r>
              <a:rPr sz="2200" b="1">
                <a:solidFill>
                  <a:srgbClr val="FFFFFF"/>
                </a:solidFill>
                <a:latin typeface="Arial"/>
              </a:rPr>
              <a:t>1</a:t>
            </a:r>
          </a:p>
        </p:txBody>
      </p:sp>
      <p:sp>
        <p:nvSpPr>
          <p:cNvPr id="12" name="TextBox 11"/>
          <p:cNvSpPr txBox="1"/>
          <p:nvPr/>
        </p:nvSpPr>
        <p:spPr>
          <a:xfrm>
            <a:off x="1371600" y="1828800"/>
            <a:ext cx="2651760" cy="731520"/>
          </a:xfrm>
          <a:prstGeom prst="rect">
            <a:avLst/>
          </a:prstGeom>
          <a:noFill/>
        </p:spPr>
        <p:txBody>
          <a:bodyPr wrap="square" anchor="ctr" lIns="45720" rIns="45720" tIns="27432" bIns="27432">
            <a:spAutoFit/>
          </a:bodyPr>
          <a:lstStyle/>
          <a:p>
            <a:pPr algn="l">
              <a:spcAft>
                <a:spcPts val="600"/>
              </a:spcAft>
            </a:pPr>
            <a:r>
              <a:rPr sz="1700" b="1">
                <a:solidFill>
                  <a:srgbClr val="1D0F1E"/>
                </a:solidFill>
                <a:latin typeface="Arial"/>
              </a:rPr>
              <a:t>Bảo mật</a:t>
            </a:r>
          </a:p>
        </p:txBody>
      </p:sp>
      <p:sp>
        <p:nvSpPr>
          <p:cNvPr id="13" name="TextBox 12"/>
          <p:cNvSpPr txBox="1"/>
          <p:nvPr/>
        </p:nvSpPr>
        <p:spPr>
          <a:xfrm>
            <a:off x="3931920" y="1828800"/>
            <a:ext cx="7772400" cy="731520"/>
          </a:xfrm>
          <a:prstGeom prst="rect">
            <a:avLst/>
          </a:prstGeom>
          <a:noFill/>
        </p:spPr>
        <p:txBody>
          <a:bodyPr wrap="square" anchor="ctr" lIns="45720" rIns="45720" tIns="27432" bIns="27432">
            <a:spAutoFit/>
          </a:bodyPr>
          <a:lstStyle/>
          <a:p>
            <a:pPr algn="l">
              <a:spcAft>
                <a:spcPts val="600"/>
              </a:spcAft>
            </a:pPr>
            <a:r>
              <a:rPr sz="1500" b="0">
                <a:solidFill>
                  <a:srgbClr val="1D0F1E"/>
                </a:solidFill>
                <a:latin typeface="Arial"/>
              </a:rPr>
              <a:t>Không tiết lộ thông tin BLA, kể cả sau khi nghỉ việc. Vi phạm bồi thường tối thiểu 200 triệu đồng.</a:t>
            </a:r>
          </a:p>
        </p:txBody>
      </p:sp>
      <p:sp>
        <p:nvSpPr>
          <p:cNvPr id="14" name="Rectangle 13"/>
          <p:cNvSpPr/>
          <p:nvPr/>
        </p:nvSpPr>
        <p:spPr>
          <a:xfrm>
            <a:off x="457200" y="2697480"/>
            <a:ext cx="731520" cy="731520"/>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2697480"/>
            <a:ext cx="731520" cy="731520"/>
          </a:xfrm>
          <a:prstGeom prst="rect">
            <a:avLst/>
          </a:prstGeom>
          <a:noFill/>
        </p:spPr>
        <p:txBody>
          <a:bodyPr wrap="square" anchor="ctr" lIns="45720" rIns="45720" tIns="27432" bIns="27432">
            <a:spAutoFit/>
          </a:bodyPr>
          <a:lstStyle/>
          <a:p>
            <a:pPr algn="ctr">
              <a:spcAft>
                <a:spcPts val="600"/>
              </a:spcAft>
            </a:pPr>
            <a:r>
              <a:rPr sz="2200" b="1">
                <a:solidFill>
                  <a:srgbClr val="1D0F1E"/>
                </a:solidFill>
                <a:latin typeface="Arial"/>
              </a:rPr>
              <a:t>2</a:t>
            </a:r>
          </a:p>
        </p:txBody>
      </p:sp>
      <p:sp>
        <p:nvSpPr>
          <p:cNvPr id="16" name="TextBox 15"/>
          <p:cNvSpPr txBox="1"/>
          <p:nvPr/>
        </p:nvSpPr>
        <p:spPr>
          <a:xfrm>
            <a:off x="1371600" y="2697480"/>
            <a:ext cx="2651760" cy="731520"/>
          </a:xfrm>
          <a:prstGeom prst="rect">
            <a:avLst/>
          </a:prstGeom>
          <a:noFill/>
        </p:spPr>
        <p:txBody>
          <a:bodyPr wrap="square" anchor="ctr" lIns="45720" rIns="45720" tIns="27432" bIns="27432">
            <a:spAutoFit/>
          </a:bodyPr>
          <a:lstStyle/>
          <a:p>
            <a:pPr algn="l">
              <a:spcAft>
                <a:spcPts val="600"/>
              </a:spcAft>
            </a:pPr>
            <a:r>
              <a:rPr sz="1700" b="1">
                <a:solidFill>
                  <a:srgbClr val="1D0F1E"/>
                </a:solidFill>
                <a:latin typeface="Arial"/>
              </a:rPr>
              <a:t>Nội quy</a:t>
            </a:r>
          </a:p>
        </p:txBody>
      </p:sp>
      <p:sp>
        <p:nvSpPr>
          <p:cNvPr id="17" name="TextBox 16"/>
          <p:cNvSpPr txBox="1"/>
          <p:nvPr/>
        </p:nvSpPr>
        <p:spPr>
          <a:xfrm>
            <a:off x="3931920" y="2697480"/>
            <a:ext cx="7772400" cy="731520"/>
          </a:xfrm>
          <a:prstGeom prst="rect">
            <a:avLst/>
          </a:prstGeom>
          <a:noFill/>
        </p:spPr>
        <p:txBody>
          <a:bodyPr wrap="square" anchor="ctr" lIns="45720" rIns="45720" tIns="27432" bIns="27432">
            <a:spAutoFit/>
          </a:bodyPr>
          <a:lstStyle/>
          <a:p>
            <a:pPr algn="l">
              <a:spcAft>
                <a:spcPts val="600"/>
              </a:spcAft>
            </a:pPr>
            <a:r>
              <a:rPr sz="1500" b="0">
                <a:solidFill>
                  <a:srgbClr val="1D0F1E"/>
                </a:solidFill>
                <a:latin typeface="Arial"/>
              </a:rPr>
              <a:t>Đi làm đúng giờ, xin phép khi vắng hoặc về sớm; kỷ luật đúng trình tự, đúng thẩm quyền.</a:t>
            </a:r>
          </a:p>
        </p:txBody>
      </p:sp>
      <p:sp>
        <p:nvSpPr>
          <p:cNvPr id="18" name="Rectangle 17"/>
          <p:cNvSpPr/>
          <p:nvPr/>
        </p:nvSpPr>
        <p:spPr>
          <a:xfrm>
            <a:off x="457200" y="3566160"/>
            <a:ext cx="731520" cy="731520"/>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7200" y="3566160"/>
            <a:ext cx="731520" cy="731520"/>
          </a:xfrm>
          <a:prstGeom prst="rect">
            <a:avLst/>
          </a:prstGeom>
          <a:noFill/>
        </p:spPr>
        <p:txBody>
          <a:bodyPr wrap="square" anchor="ctr" lIns="45720" rIns="45720" tIns="27432" bIns="27432">
            <a:spAutoFit/>
          </a:bodyPr>
          <a:lstStyle/>
          <a:p>
            <a:pPr algn="ctr">
              <a:spcAft>
                <a:spcPts val="600"/>
              </a:spcAft>
            </a:pPr>
            <a:r>
              <a:rPr sz="2200" b="1">
                <a:solidFill>
                  <a:srgbClr val="FFFFFF"/>
                </a:solidFill>
                <a:latin typeface="Arial"/>
              </a:rPr>
              <a:t>3</a:t>
            </a:r>
          </a:p>
        </p:txBody>
      </p:sp>
      <p:sp>
        <p:nvSpPr>
          <p:cNvPr id="20" name="TextBox 19"/>
          <p:cNvSpPr txBox="1"/>
          <p:nvPr/>
        </p:nvSpPr>
        <p:spPr>
          <a:xfrm>
            <a:off x="1371600" y="3566160"/>
            <a:ext cx="2651760" cy="731520"/>
          </a:xfrm>
          <a:prstGeom prst="rect">
            <a:avLst/>
          </a:prstGeom>
          <a:noFill/>
        </p:spPr>
        <p:txBody>
          <a:bodyPr wrap="square" anchor="ctr" lIns="45720" rIns="45720" tIns="27432" bIns="27432">
            <a:spAutoFit/>
          </a:bodyPr>
          <a:lstStyle/>
          <a:p>
            <a:pPr algn="l">
              <a:spcAft>
                <a:spcPts val="600"/>
              </a:spcAft>
            </a:pPr>
            <a:r>
              <a:rPr sz="1700" b="1">
                <a:solidFill>
                  <a:srgbClr val="1D0F1E"/>
                </a:solidFill>
                <a:latin typeface="Arial"/>
              </a:rPr>
              <a:t>Ứng xử</a:t>
            </a:r>
          </a:p>
        </p:txBody>
      </p:sp>
      <p:sp>
        <p:nvSpPr>
          <p:cNvPr id="21" name="TextBox 20"/>
          <p:cNvSpPr txBox="1"/>
          <p:nvPr/>
        </p:nvSpPr>
        <p:spPr>
          <a:xfrm>
            <a:off x="3931920" y="3566160"/>
            <a:ext cx="7772400" cy="731520"/>
          </a:xfrm>
          <a:prstGeom prst="rect">
            <a:avLst/>
          </a:prstGeom>
          <a:noFill/>
        </p:spPr>
        <p:txBody>
          <a:bodyPr wrap="square" anchor="ctr" lIns="45720" rIns="45720" tIns="27432" bIns="27432">
            <a:spAutoFit/>
          </a:bodyPr>
          <a:lstStyle/>
          <a:p>
            <a:pPr algn="l">
              <a:spcAft>
                <a:spcPts val="600"/>
              </a:spcAft>
            </a:pPr>
            <a:r>
              <a:rPr sz="1500" b="0">
                <a:solidFill>
                  <a:srgbClr val="1D0F1E"/>
                </a:solidFill>
                <a:latin typeface="Arial"/>
              </a:rPr>
              <a:t>Tôn trọng mọi người; không xúc phạm, quấy rối; phản ánh vi phạm qua Phòng HCNS.</a:t>
            </a:r>
          </a:p>
        </p:txBody>
      </p:sp>
      <p:sp>
        <p:nvSpPr>
          <p:cNvPr id="22" name="Rectangle 21"/>
          <p:cNvSpPr/>
          <p:nvPr/>
        </p:nvSpPr>
        <p:spPr>
          <a:xfrm>
            <a:off x="457200" y="4434840"/>
            <a:ext cx="731520" cy="731520"/>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4434840"/>
            <a:ext cx="731520" cy="731520"/>
          </a:xfrm>
          <a:prstGeom prst="rect">
            <a:avLst/>
          </a:prstGeom>
          <a:noFill/>
        </p:spPr>
        <p:txBody>
          <a:bodyPr wrap="square" anchor="ctr" lIns="45720" rIns="45720" tIns="27432" bIns="27432">
            <a:spAutoFit/>
          </a:bodyPr>
          <a:lstStyle/>
          <a:p>
            <a:pPr algn="ctr">
              <a:spcAft>
                <a:spcPts val="600"/>
              </a:spcAft>
            </a:pPr>
            <a:r>
              <a:rPr sz="2200" b="1">
                <a:solidFill>
                  <a:srgbClr val="FFFFFF"/>
                </a:solidFill>
                <a:latin typeface="Arial"/>
              </a:rPr>
              <a:t>4</a:t>
            </a:r>
          </a:p>
        </p:txBody>
      </p:sp>
      <p:sp>
        <p:nvSpPr>
          <p:cNvPr id="24" name="TextBox 23"/>
          <p:cNvSpPr txBox="1"/>
          <p:nvPr/>
        </p:nvSpPr>
        <p:spPr>
          <a:xfrm>
            <a:off x="1371600" y="4434840"/>
            <a:ext cx="2651760" cy="731520"/>
          </a:xfrm>
          <a:prstGeom prst="rect">
            <a:avLst/>
          </a:prstGeom>
          <a:noFill/>
        </p:spPr>
        <p:txBody>
          <a:bodyPr wrap="square" anchor="ctr" lIns="45720" rIns="45720" tIns="27432" bIns="27432">
            <a:spAutoFit/>
          </a:bodyPr>
          <a:lstStyle/>
          <a:p>
            <a:pPr algn="l">
              <a:spcAft>
                <a:spcPts val="600"/>
              </a:spcAft>
            </a:pPr>
            <a:r>
              <a:rPr sz="1700" b="1">
                <a:solidFill>
                  <a:srgbClr val="1D0F1E"/>
                </a:solidFill>
                <a:latin typeface="Arial"/>
              </a:rPr>
              <a:t>Đối ngoại</a:t>
            </a:r>
          </a:p>
        </p:txBody>
      </p:sp>
      <p:sp>
        <p:nvSpPr>
          <p:cNvPr id="25" name="TextBox 24"/>
          <p:cNvSpPr txBox="1"/>
          <p:nvPr/>
        </p:nvSpPr>
        <p:spPr>
          <a:xfrm>
            <a:off x="3931920" y="4434840"/>
            <a:ext cx="7772400" cy="731520"/>
          </a:xfrm>
          <a:prstGeom prst="rect">
            <a:avLst/>
          </a:prstGeom>
          <a:noFill/>
        </p:spPr>
        <p:txBody>
          <a:bodyPr wrap="square" anchor="ctr" lIns="45720" rIns="45720" tIns="27432" bIns="27432">
            <a:spAutoFit/>
          </a:bodyPr>
          <a:lstStyle/>
          <a:p>
            <a:pPr algn="l">
              <a:spcAft>
                <a:spcPts val="600"/>
              </a:spcAft>
            </a:pPr>
            <a:r>
              <a:rPr sz="1500" b="0">
                <a:solidFill>
                  <a:srgbClr val="1D0F1E"/>
                </a:solidFill>
                <a:latin typeface="Arial"/>
              </a:rPr>
              <a:t>Không tự cam kết, ký kết hay phát ngôn nhân danh BLA khi chưa được phân quyền.</a:t>
            </a:r>
          </a:p>
        </p:txBody>
      </p:sp>
      <p:sp>
        <p:nvSpPr>
          <p:cNvPr id="26" name="Rectangle 25"/>
          <p:cNvSpPr/>
          <p:nvPr/>
        </p:nvSpPr>
        <p:spPr>
          <a:xfrm>
            <a:off x="457200" y="5303520"/>
            <a:ext cx="731520" cy="731520"/>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5303520"/>
            <a:ext cx="731520" cy="731520"/>
          </a:xfrm>
          <a:prstGeom prst="rect">
            <a:avLst/>
          </a:prstGeom>
          <a:noFill/>
        </p:spPr>
        <p:txBody>
          <a:bodyPr wrap="square" anchor="ctr" lIns="45720" rIns="45720" tIns="27432" bIns="27432">
            <a:spAutoFit/>
          </a:bodyPr>
          <a:lstStyle/>
          <a:p>
            <a:pPr algn="ctr">
              <a:spcAft>
                <a:spcPts val="600"/>
              </a:spcAft>
            </a:pPr>
            <a:r>
              <a:rPr sz="2200" b="1">
                <a:solidFill>
                  <a:srgbClr val="1D0F1E"/>
                </a:solidFill>
                <a:latin typeface="Arial"/>
              </a:rPr>
              <a:t>5</a:t>
            </a:r>
          </a:p>
        </p:txBody>
      </p:sp>
      <p:sp>
        <p:nvSpPr>
          <p:cNvPr id="28" name="TextBox 27"/>
          <p:cNvSpPr txBox="1"/>
          <p:nvPr/>
        </p:nvSpPr>
        <p:spPr>
          <a:xfrm>
            <a:off x="1371600" y="5303520"/>
            <a:ext cx="2651760" cy="731520"/>
          </a:xfrm>
          <a:prstGeom prst="rect">
            <a:avLst/>
          </a:prstGeom>
          <a:noFill/>
        </p:spPr>
        <p:txBody>
          <a:bodyPr wrap="square" anchor="ctr" lIns="45720" rIns="45720" tIns="27432" bIns="27432">
            <a:spAutoFit/>
          </a:bodyPr>
          <a:lstStyle/>
          <a:p>
            <a:pPr algn="l">
              <a:spcAft>
                <a:spcPts val="600"/>
              </a:spcAft>
            </a:pPr>
            <a:r>
              <a:rPr sz="1700" b="1">
                <a:solidFill>
                  <a:srgbClr val="1D0F1E"/>
                </a:solidFill>
                <a:latin typeface="Arial"/>
              </a:rPr>
              <a:t>Hỏi khi chưa chắc</a:t>
            </a:r>
          </a:p>
        </p:txBody>
      </p:sp>
      <p:sp>
        <p:nvSpPr>
          <p:cNvPr id="29" name="TextBox 28"/>
          <p:cNvSpPr txBox="1"/>
          <p:nvPr/>
        </p:nvSpPr>
        <p:spPr>
          <a:xfrm>
            <a:off x="3931920" y="5303520"/>
            <a:ext cx="7772400" cy="731520"/>
          </a:xfrm>
          <a:prstGeom prst="rect">
            <a:avLst/>
          </a:prstGeom>
          <a:noFill/>
        </p:spPr>
        <p:txBody>
          <a:bodyPr wrap="square" anchor="ctr" lIns="45720" rIns="45720" tIns="27432" bIns="27432">
            <a:spAutoFit/>
          </a:bodyPr>
          <a:lstStyle/>
          <a:p>
            <a:pPr algn="l">
              <a:spcAft>
                <a:spcPts val="600"/>
              </a:spcAft>
            </a:pPr>
            <a:r>
              <a:rPr sz="1500" b="0">
                <a:solidFill>
                  <a:srgbClr val="1D0F1E"/>
                </a:solidFill>
                <a:latin typeface="Arial"/>
              </a:rPr>
              <a:t>Liên hệ Phòng HCNS trước khi hành động để tránh rủi ro cho bản thân và Công 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Freeform 2"/>
          <p:cNvSpPr/>
          <p:nvPr/>
        </p:nvSpPr>
        <p:spPr>
          <a:xfrm>
            <a:off x="7955279" y="0"/>
            <a:ext cx="3840481" cy="6858000"/>
          </a:xfrm>
          <a:custGeom>
            <a:avLst/>
            <a:gdLst/>
            <a:ahLst/>
            <a:cxnLst/>
            <a:rect l="l" t="t" r="r" b="b"/>
            <a:pathLst>
              <a:path w="3840481" h="6858000">
                <a:moveTo>
                  <a:pt x="548641" y="0"/>
                </a:moveTo>
                <a:lnTo>
                  <a:pt x="3840481" y="0"/>
                </a:lnTo>
                <a:lnTo>
                  <a:pt x="1645921" y="6858000"/>
                </a:lnTo>
                <a:lnTo>
                  <a:pt x="0" y="6858000"/>
                </a:lnTo>
                <a:close/>
              </a:path>
            </a:pathLst>
          </a:cu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10058400" y="2807208"/>
            <a:ext cx="2133295" cy="4050792"/>
          </a:xfrm>
          <a:custGeom>
            <a:avLst/>
            <a:gdLst/>
            <a:ahLst/>
            <a:cxnLst/>
            <a:rect l="l" t="t" r="r" b="b"/>
            <a:pathLst>
              <a:path w="2133295" h="4050792">
                <a:moveTo>
                  <a:pt x="822960" y="0"/>
                </a:moveTo>
                <a:lnTo>
                  <a:pt x="2133295" y="0"/>
                </a:lnTo>
                <a:lnTo>
                  <a:pt x="2133295" y="4050792"/>
                </a:lnTo>
                <a:lnTo>
                  <a:pt x="0" y="4050792"/>
                </a:lnTo>
                <a:close/>
              </a:path>
            </a:pathLst>
          </a:cu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320040"/>
            <a:ext cx="365760" cy="329184"/>
          </a:xfrm>
          <a:prstGeom prst="rect">
            <a:avLst/>
          </a:prstGeom>
          <a:solidFill>
            <a:srgbClr val="1D0F1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B</a:t>
            </a:r>
          </a:p>
        </p:txBody>
      </p:sp>
      <p:sp>
        <p:nvSpPr>
          <p:cNvPr id="6" name="Rectangle 5"/>
          <p:cNvSpPr/>
          <p:nvPr/>
        </p:nvSpPr>
        <p:spPr>
          <a:xfrm>
            <a:off x="859536" y="320040"/>
            <a:ext cx="365760" cy="329184"/>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FFFFFF"/>
                </a:solidFill>
                <a:latin typeface="Arial"/>
              </a:rPr>
              <a:t>L</a:t>
            </a:r>
          </a:p>
        </p:txBody>
      </p:sp>
      <p:sp>
        <p:nvSpPr>
          <p:cNvPr id="7" name="Rectangle 6"/>
          <p:cNvSpPr/>
          <p:nvPr/>
        </p:nvSpPr>
        <p:spPr>
          <a:xfrm>
            <a:off x="1261872" y="320040"/>
            <a:ext cx="365760" cy="329184"/>
          </a:xfrm>
          <a:prstGeom prst="rect">
            <a:avLst/>
          </a:prstGeom>
          <a:solidFill>
            <a:srgbClr val="FDC01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b="1" sz="1400">
                <a:solidFill>
                  <a:srgbClr val="1D0F1E"/>
                </a:solidFill>
                <a:latin typeface="Arial"/>
              </a:rPr>
              <a:t>A</a:t>
            </a:r>
          </a:p>
        </p:txBody>
      </p:sp>
      <p:sp>
        <p:nvSpPr>
          <p:cNvPr id="8" name="TextBox 7"/>
          <p:cNvSpPr txBox="1"/>
          <p:nvPr/>
        </p:nvSpPr>
        <p:spPr>
          <a:xfrm>
            <a:off x="1700784" y="301751"/>
            <a:ext cx="1828800" cy="365760"/>
          </a:xfrm>
          <a:prstGeom prst="rect">
            <a:avLst/>
          </a:prstGeom>
          <a:noFill/>
        </p:spPr>
        <p:txBody>
          <a:bodyPr wrap="square" anchor="t" lIns="45720" rIns="45720" tIns="27432" bIns="27432">
            <a:spAutoFit/>
          </a:bodyPr>
          <a:lstStyle/>
          <a:p>
            <a:pPr algn="l">
              <a:spcAft>
                <a:spcPts val="0"/>
              </a:spcAft>
            </a:pPr>
            <a:r>
              <a:rPr sz="1000" b="1">
                <a:solidFill>
                  <a:srgbClr val="FFFFFF"/>
                </a:solidFill>
                <a:latin typeface="Arial"/>
              </a:rPr>
              <a:t>Education</a:t>
            </a:r>
          </a:p>
          <a:p>
            <a:pPr algn="l">
              <a:spcAft>
                <a:spcPts val="0"/>
              </a:spcAft>
            </a:pPr>
            <a:r>
              <a:rPr sz="1000" b="1">
                <a:solidFill>
                  <a:srgbClr val="FFFFFF"/>
                </a:solidFill>
                <a:latin typeface="Arial"/>
              </a:rPr>
              <a:t>Group</a:t>
            </a:r>
          </a:p>
        </p:txBody>
      </p:sp>
      <p:sp>
        <p:nvSpPr>
          <p:cNvPr id="9" name="TextBox 8"/>
          <p:cNvSpPr txBox="1"/>
          <p:nvPr/>
        </p:nvSpPr>
        <p:spPr>
          <a:xfrm>
            <a:off x="731520" y="2103120"/>
            <a:ext cx="7315200" cy="1097280"/>
          </a:xfrm>
          <a:prstGeom prst="rect">
            <a:avLst/>
          </a:prstGeom>
          <a:noFill/>
        </p:spPr>
        <p:txBody>
          <a:bodyPr wrap="square" anchor="t" lIns="45720" rIns="45720" tIns="27432" bIns="27432">
            <a:spAutoFit/>
          </a:bodyPr>
          <a:lstStyle/>
          <a:p>
            <a:pPr algn="l">
              <a:spcAft>
                <a:spcPts val="600"/>
              </a:spcAft>
            </a:pPr>
            <a:r>
              <a:rPr sz="6000" b="1">
                <a:solidFill>
                  <a:srgbClr val="FFFFFF"/>
                </a:solidFill>
                <a:latin typeface="Arial"/>
              </a:rPr>
              <a:t>THANK YOU!</a:t>
            </a:r>
          </a:p>
        </p:txBody>
      </p:sp>
      <p:sp>
        <p:nvSpPr>
          <p:cNvPr id="10" name="Rectangle 9"/>
          <p:cNvSpPr/>
          <p:nvPr/>
        </p:nvSpPr>
        <p:spPr>
          <a:xfrm>
            <a:off x="777240" y="3291840"/>
            <a:ext cx="822960" cy="64008"/>
          </a:xfrm>
          <a:prstGeom prst="rect">
            <a:avLst/>
          </a:prstGeom>
          <a:solidFill>
            <a:srgbClr val="ED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566160"/>
            <a:ext cx="6858000" cy="548640"/>
          </a:xfrm>
          <a:prstGeom prst="rect">
            <a:avLst/>
          </a:prstGeom>
          <a:noFill/>
        </p:spPr>
        <p:txBody>
          <a:bodyPr wrap="square" anchor="t" lIns="45720" rIns="45720" tIns="27432" bIns="27432">
            <a:spAutoFit/>
          </a:bodyPr>
          <a:lstStyle/>
          <a:p>
            <a:pPr algn="l">
              <a:spcAft>
                <a:spcPts val="600"/>
              </a:spcAft>
            </a:pPr>
            <a:r>
              <a:rPr sz="1600" b="0">
                <a:solidFill>
                  <a:srgbClr val="FFFFFF"/>
                </a:solidFill>
                <a:latin typeface="Arial"/>
              </a:rPr>
              <a:t>Cảm ơn anh/chị đã tham gia. Mọi thắc mắc xin gửi về Phòng HCNS.</a:t>
            </a:r>
          </a:p>
        </p:txBody>
      </p:sp>
      <p:sp>
        <p:nvSpPr>
          <p:cNvPr id="12" name="TextBox 11"/>
          <p:cNvSpPr txBox="1"/>
          <p:nvPr/>
        </p:nvSpPr>
        <p:spPr>
          <a:xfrm>
            <a:off x="731520" y="4480560"/>
            <a:ext cx="6858000" cy="1463040"/>
          </a:xfrm>
          <a:prstGeom prst="rect">
            <a:avLst/>
          </a:prstGeom>
          <a:noFill/>
        </p:spPr>
        <p:txBody>
          <a:bodyPr wrap="square" anchor="t" lIns="45720" rIns="45720" tIns="27432" bIns="27432">
            <a:spAutoFit/>
          </a:bodyPr>
          <a:lstStyle/>
          <a:p>
            <a:pPr algn="l">
              <a:spcAft>
                <a:spcPts val="400"/>
              </a:spcAft>
            </a:pPr>
            <a:r>
              <a:rPr sz="1400" b="0">
                <a:solidFill>
                  <a:srgbClr val="FFFFFF"/>
                </a:solidFill>
                <a:latin typeface="Arial"/>
              </a:rPr>
              <a:t>CONTACT P.HCNS</a:t>
            </a:r>
          </a:p>
          <a:p>
            <a:pPr algn="l">
              <a:spcAft>
                <a:spcPts val="400"/>
              </a:spcAft>
            </a:pPr>
            <a:r>
              <a:rPr sz="1400" b="0">
                <a:solidFill>
                  <a:srgbClr val="FFFFFF"/>
                </a:solidFill>
                <a:latin typeface="Arial"/>
              </a:rPr>
              <a:t>Điện thoại: 0964.000.931</a:t>
            </a:r>
          </a:p>
          <a:p>
            <a:pPr algn="l">
              <a:spcAft>
                <a:spcPts val="400"/>
              </a:spcAft>
            </a:pPr>
            <a:r>
              <a:rPr sz="1400" b="0">
                <a:solidFill>
                  <a:srgbClr val="FFFFFF"/>
                </a:solidFill>
                <a:latin typeface="Arial"/>
              </a:rPr>
              <a:t>Email: hr@bla.vn</a:t>
            </a:r>
          </a:p>
          <a:p>
            <a:pPr algn="l">
              <a:spcAft>
                <a:spcPts val="400"/>
              </a:spcAft>
            </a:pPr>
            <a:r>
              <a:rPr sz="1400" b="0">
                <a:solidFill>
                  <a:srgbClr val="FFFFFF"/>
                </a:solidFill>
                <a:latin typeface="Arial"/>
              </a:rPr>
              <a:t>Website: www.bla.vn</a:t>
            </a:r>
          </a:p>
          <a:p>
            <a:pPr algn="l">
              <a:spcAft>
                <a:spcPts val="400"/>
              </a:spcAft>
            </a:pPr>
            <a:r>
              <a:rPr sz="1400" b="0">
                <a:solidFill>
                  <a:srgbClr val="FFFFFF"/>
                </a:solidFill>
                <a:latin typeface="Arial"/>
              </a:rPr>
              <a:t>Địa chỉ: Văn Khê – Hà Đông – Hà Nội</a:t>
            </a:r>
          </a:p>
        </p:txBody>
      </p:sp>
      <p:sp>
        <p:nvSpPr>
          <p:cNvPr id="13" name="TextBox 12"/>
          <p:cNvSpPr txBox="1"/>
          <p:nvPr/>
        </p:nvSpPr>
        <p:spPr>
          <a:xfrm>
            <a:off x="457200" y="6400800"/>
            <a:ext cx="7315200" cy="274320"/>
          </a:xfrm>
          <a:prstGeom prst="rect">
            <a:avLst/>
          </a:prstGeom>
          <a:noFill/>
        </p:spPr>
        <p:txBody>
          <a:bodyPr wrap="square" anchor="t" lIns="45720" rIns="45720" tIns="27432" bIns="27432">
            <a:spAutoFit/>
          </a:bodyPr>
          <a:lstStyle/>
          <a:p>
            <a:pPr algn="l">
              <a:spcAft>
                <a:spcPts val="600"/>
              </a:spcAft>
            </a:pPr>
            <a:r>
              <a:rPr sz="1000" b="0">
                <a:solidFill>
                  <a:srgbClr val="FFFFFF"/>
                </a:solidFill>
                <a:latin typeface="Arial"/>
              </a:rPr>
              <a:t>BLA Education Group  |  Đào tạo nội bộ – Khối HCNS</a:t>
            </a:r>
          </a:p>
        </p:txBody>
      </p:sp>
      <p:sp>
        <p:nvSpPr>
          <p:cNvPr id="14" name="TextBox 13"/>
          <p:cNvSpPr txBox="1"/>
          <p:nvPr/>
        </p:nvSpPr>
        <p:spPr>
          <a:xfrm>
            <a:off x="10789920" y="6400800"/>
            <a:ext cx="914400" cy="274320"/>
          </a:xfrm>
          <a:prstGeom prst="rect">
            <a:avLst/>
          </a:prstGeom>
          <a:noFill/>
        </p:spPr>
        <p:txBody>
          <a:bodyPr wrap="square" anchor="t" lIns="45720" rIns="45720" tIns="27432" bIns="27432">
            <a:spAutoFit/>
          </a:bodyPr>
          <a:lstStyle/>
          <a:p>
            <a:pPr algn="r">
              <a:spcAft>
                <a:spcPts val="600"/>
              </a:spcAft>
            </a:pPr>
            <a:r>
              <a:rPr sz="1000" b="0">
                <a:solidFill>
                  <a:srgbClr val="FFFFFF"/>
                </a:solidFill>
                <a:latin typeface="Arial"/>
              </a:rPr>
              <a:t>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